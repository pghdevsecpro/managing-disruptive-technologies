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Poppins"/>
      <p:regular r:id="rId17"/>
      <p:bold r:id="rId18"/>
      <p:italic r:id="rId19"/>
      <p:boldItalic r:id="rId20"/>
    </p:embeddedFont>
    <p:embeddedFont>
      <p:font typeface="Lato"/>
      <p:regular r:id="rId21"/>
      <p:bold r:id="rId22"/>
      <p:italic r:id="rId23"/>
      <p:boldItalic r:id="rId24"/>
    </p:embeddedFont>
    <p:embeddedFont>
      <p:font typeface="Lato Black"/>
      <p:bold r:id="rId25"/>
      <p:boldItalic r:id="rId26"/>
    </p:embeddedFont>
    <p:embeddedFont>
      <p:font typeface="Poppins SemiBold"/>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boldItalic.fntdata"/><Relationship Id="rId22" Type="http://schemas.openxmlformats.org/officeDocument/2006/relationships/font" Target="fonts/Lato-bold.fntdata"/><Relationship Id="rId21" Type="http://schemas.openxmlformats.org/officeDocument/2006/relationships/font" Target="fonts/Lato-regular.fntdata"/><Relationship Id="rId24" Type="http://schemas.openxmlformats.org/officeDocument/2006/relationships/font" Target="fonts/Lato-boldItalic.fntdata"/><Relationship Id="rId23" Type="http://schemas.openxmlformats.org/officeDocument/2006/relationships/font" Target="fonts/La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lack-boldItalic.fntdata"/><Relationship Id="rId25" Type="http://schemas.openxmlformats.org/officeDocument/2006/relationships/font" Target="fonts/LatoBlack-bold.fntdata"/><Relationship Id="rId28" Type="http://schemas.openxmlformats.org/officeDocument/2006/relationships/font" Target="fonts/PoppinsSemiBold-bold.fntdata"/><Relationship Id="rId27" Type="http://schemas.openxmlformats.org/officeDocument/2006/relationships/font" Target="fonts/PoppinsSemiBold-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SemiBold-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PoppinsSemiBold-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Poppins-regular.fntdata"/><Relationship Id="rId16" Type="http://schemas.openxmlformats.org/officeDocument/2006/relationships/slide" Target="slides/slide11.xml"/><Relationship Id="rId19" Type="http://schemas.openxmlformats.org/officeDocument/2006/relationships/font" Target="fonts/Poppins-italic.fntdata"/><Relationship Id="rId18" Type="http://schemas.openxmlformats.org/officeDocument/2006/relationships/font" Target="fonts/Poppi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d721fb7848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g3d721fb7848_0_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d721fb7848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HubSpot is a CRM &amp; Marketing platform and especially serves small &amp; medium businesses. In more simple words, HubSpot is a platform that helps businesses turn website visitors into customers.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example, imagine a small business selling skincare products online.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 user visits their website — this is a </a:t>
            </a:r>
            <a:r>
              <a:rPr i="1" lang="en">
                <a:solidFill>
                  <a:schemeClr val="dk1"/>
                </a:solidFill>
              </a:rPr>
              <a:t>visitor</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They click on a blog or sign up for a discount — now they become a </a:t>
            </a:r>
            <a:r>
              <a:rPr i="1" lang="en">
                <a:solidFill>
                  <a:schemeClr val="dk1"/>
                </a:solidFill>
              </a:rPr>
              <a:t>lead</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Then, through emails or follow-ups, they eventually make a purchase — becoming a </a:t>
            </a:r>
            <a:r>
              <a:rPr i="1" lang="en">
                <a:solidFill>
                  <a:schemeClr val="dk1"/>
                </a:solidFill>
              </a:rPr>
              <a:t>customer</a:t>
            </a:r>
            <a:r>
              <a:rPr lang="en">
                <a:solidFill>
                  <a:schemeClr val="dk1"/>
                </a:solidFill>
              </a:rPr>
              <a:t>. and ideally stay as a long-term customer.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HubSpot provides tools to manage and optimize this entire process, from attracting users to converting and retaining customers.</a:t>
            </a:r>
            <a:endParaRPr>
              <a:solidFill>
                <a:schemeClr val="dk1"/>
              </a:solidFill>
            </a:endParaRPr>
          </a:p>
          <a:p>
            <a:pPr indent="0" lvl="0" marL="0" rtl="0" algn="l">
              <a:spcBef>
                <a:spcPts val="1200"/>
              </a:spcBef>
              <a:spcAft>
                <a:spcPts val="0"/>
              </a:spcAft>
              <a:buNone/>
            </a:pPr>
            <a:r>
              <a:t/>
            </a:r>
            <a:endParaRPr/>
          </a:p>
        </p:txBody>
      </p:sp>
      <p:sp>
        <p:nvSpPr>
          <p:cNvPr id="64" name="Google Shape;64;g3d721fb7848_0_1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d721fb7848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Traditionally, HubSpot relied on tools like forms, emails, and human live chat to interact with users. These were often slow and difficult to scale, especially for small businesses. So, HubSpot started exploring chatbots to automate and scale customer interactions.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But this leads to a key question: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when should firms use chatbots versus human interaction?</a:t>
            </a:r>
            <a:endParaRPr b="1">
              <a:solidFill>
                <a:schemeClr val="dk1"/>
              </a:solidFill>
            </a:endParaRPr>
          </a:p>
          <a:p>
            <a:pPr indent="0" lvl="0" marL="0" rtl="0" algn="l">
              <a:spcBef>
                <a:spcPts val="1200"/>
              </a:spcBef>
              <a:spcAft>
                <a:spcPts val="0"/>
              </a:spcAft>
              <a:buNone/>
            </a:pPr>
            <a:r>
              <a:t/>
            </a:r>
            <a:endParaRPr/>
          </a:p>
        </p:txBody>
      </p:sp>
      <p:sp>
        <p:nvSpPr>
          <p:cNvPr id="75" name="Google Shape;75;g3d721fb7848_0_4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d721fb7848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Chatbots improve efficiency, but they may also affect user experience and trust.</a:t>
            </a:r>
            <a:endParaRPr/>
          </a:p>
          <a:p>
            <a:pPr indent="0" lvl="0" marL="0" rtl="0" algn="l">
              <a:lnSpc>
                <a:spcPct val="115000"/>
              </a:lnSpc>
              <a:spcBef>
                <a:spcPts val="1200"/>
              </a:spcBef>
              <a:spcAft>
                <a:spcPts val="1200"/>
              </a:spcAft>
              <a:buNone/>
            </a:pPr>
            <a:r>
              <a:rPr lang="en"/>
              <a:t>So the key challenge is how to balance efficiency and user experience in platform design.</a:t>
            </a:r>
            <a:endParaRPr/>
          </a:p>
        </p:txBody>
      </p:sp>
      <p:sp>
        <p:nvSpPr>
          <p:cNvPr id="84" name="Google Shape;84;g3d721fb7848_0_4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d746a30b01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Chatbots show high potential—they can provide fast, scalable, and cost-effective customer interactions. However, the technology is still relatively immature.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Bots continue to struggle with complex, ambiguous, or context-heavy conversations, which limits their ability to fully replace human interaction.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a:t>
            </a:r>
            <a:r>
              <a:rPr lang="en"/>
              <a:t>ustomer preferences are mixed. While many users value the speed and convenience of bots, they still prefer human support when dealing with more complicated or nuanced issues. This creates a need for balance rather than full automation.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One of the most important insights is that the biggest challenge isn’t purely technical—it’s conversational. Designing effective, natural, and helpful interactions is difficult, and poor conversational design can quickly lead to frustration and damage the customer experience.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Overall, the case shows that success with chatbots depends less on the technology itself and more on how thoughtfully it is implemented. </a:t>
            </a:r>
            <a:endParaRPr/>
          </a:p>
        </p:txBody>
      </p:sp>
      <p:sp>
        <p:nvSpPr>
          <p:cNvPr id="91" name="Google Shape;91;g3d746a30b01_1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d746a30b01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g3d746a30b01_1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d746a30b0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Brendan.</a:t>
            </a:r>
            <a:endParaRPr/>
          </a:p>
        </p:txBody>
      </p:sp>
      <p:sp>
        <p:nvSpPr>
          <p:cNvPr id="105" name="Google Shape;105;g3d746a30b0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d746a30b0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Brendan.</a:t>
            </a:r>
            <a:endParaRPr/>
          </a:p>
        </p:txBody>
      </p:sp>
      <p:sp>
        <p:nvSpPr>
          <p:cNvPr id="118" name="Google Shape;118;g3d746a30b01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d746a30b01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d746a30b01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Traditionally, CRM companies competed based on scale. The biggest advantage came from having the largest installed base, the biggest sales force, and the broadest set of products. Today, that is changing in the AI era.</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Today, the most valuable asset is unified customer data. AI is much more effective when a company can see the entire customer journey in one system.</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That gives HubSpot an advantage because its marketing, sales, support, email, and chat tools are all integrated into one platform.</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For example, if a customer downloaded an ebook, opened a sales email, contacted support, and used live chat, HubSpot can connect all of those interactions into a single profile.</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That creates three advantages.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First, it improves AI accuracy because the system has more context.</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Second, it creates smoother handoffs between teams because sales, marketing, and support all see the same information.</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Third, it creates a lower-friction customer experience because customers do not have to repeat themselves across different channels.</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So, while older CRM competition was based on scale, the new source of competitive advantage is integrated data and AI-enabled workflows. </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That shift is one reason HubSpot has become much more competitive relative to larger firms like Salesforce, which will be discussed in further detail on the next slide.</a:t>
            </a:r>
            <a:endParaRPr sz="1200">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d746a30b0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Brendan.</a:t>
            </a:r>
            <a:endParaRPr/>
          </a:p>
        </p:txBody>
      </p:sp>
      <p:sp>
        <p:nvSpPr>
          <p:cNvPr id="136" name="Google Shape;136;g3d746a30b01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746a30b01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d746a30b01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www.technavio.com/report/crm-market-industry-analysi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 name="Shape 53"/>
        <p:cNvGrpSpPr/>
        <p:nvPr/>
      </p:nvGrpSpPr>
      <p:grpSpPr>
        <a:xfrm>
          <a:off x="0" y="0"/>
          <a:ext cx="0" cy="0"/>
          <a:chOff x="0" y="0"/>
          <a:chExt cx="0" cy="0"/>
        </a:xfrm>
      </p:grpSpPr>
      <p:sp>
        <p:nvSpPr>
          <p:cNvPr id="54" name="Google Shape;54;p13"/>
          <p:cNvSpPr/>
          <p:nvPr/>
        </p:nvSpPr>
        <p:spPr>
          <a:xfrm>
            <a:off x="0" y="0"/>
            <a:ext cx="9144000" cy="85800"/>
          </a:xfrm>
          <a:prstGeom prst="rect">
            <a:avLst/>
          </a:prstGeom>
          <a:solidFill>
            <a:srgbClr val="FF7A5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5" name="Google Shape;55;p13"/>
          <p:cNvSpPr txBox="1"/>
          <p:nvPr/>
        </p:nvSpPr>
        <p:spPr>
          <a:xfrm>
            <a:off x="821531" y="714375"/>
            <a:ext cx="51507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200" u="none" cap="none" strike="noStrike">
                <a:solidFill>
                  <a:srgbClr val="FF7A59"/>
                </a:solidFill>
                <a:latin typeface="Poppins SemiBold"/>
                <a:ea typeface="Poppins SemiBold"/>
                <a:cs typeface="Poppins SemiBold"/>
                <a:sym typeface="Poppins SemiBold"/>
              </a:rPr>
              <a:t>MANAGING DISRUPTIVE TECHNOLOGIES • ASSIGNMENT 4</a:t>
            </a:r>
            <a:endParaRPr sz="1100"/>
          </a:p>
        </p:txBody>
      </p:sp>
      <p:sp>
        <p:nvSpPr>
          <p:cNvPr id="56" name="Google Shape;56;p13"/>
          <p:cNvSpPr/>
          <p:nvPr/>
        </p:nvSpPr>
        <p:spPr>
          <a:xfrm>
            <a:off x="714375" y="714375"/>
            <a:ext cx="28500" cy="235800"/>
          </a:xfrm>
          <a:prstGeom prst="rect">
            <a:avLst/>
          </a:prstGeom>
          <a:solidFill>
            <a:srgbClr val="FF7A5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7" name="Google Shape;57;p13"/>
          <p:cNvSpPr txBox="1"/>
          <p:nvPr/>
        </p:nvSpPr>
        <p:spPr>
          <a:xfrm>
            <a:off x="714375" y="1893094"/>
            <a:ext cx="8101200" cy="13254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4100" u="none" cap="none" strike="noStrike">
                <a:solidFill>
                  <a:srgbClr val="2E475D"/>
                </a:solidFill>
                <a:latin typeface="Poppins"/>
                <a:ea typeface="Poppins"/>
                <a:cs typeface="Poppins"/>
                <a:sym typeface="Poppins"/>
              </a:rPr>
              <a:t>Motion AI &amp; </a:t>
            </a:r>
            <a:r>
              <a:rPr b="1" i="0" lang="en" sz="4100" u="none" cap="none" strike="noStrike">
                <a:solidFill>
                  <a:srgbClr val="FF7A59"/>
                </a:solidFill>
                <a:latin typeface="Poppins"/>
                <a:ea typeface="Poppins"/>
                <a:cs typeface="Poppins"/>
                <a:sym typeface="Poppins"/>
              </a:rPr>
              <a:t>Chatbot-Enabled</a:t>
            </a:r>
            <a:r>
              <a:rPr b="1" i="0" lang="en" sz="4100" u="none" cap="none" strike="noStrike">
                <a:solidFill>
                  <a:srgbClr val="2E475D"/>
                </a:solidFill>
                <a:latin typeface="Poppins"/>
                <a:ea typeface="Poppins"/>
                <a:cs typeface="Poppins"/>
                <a:sym typeface="Poppins"/>
              </a:rPr>
              <a:t> CRM</a:t>
            </a:r>
            <a:endParaRPr sz="1100"/>
          </a:p>
        </p:txBody>
      </p:sp>
      <p:sp>
        <p:nvSpPr>
          <p:cNvPr id="58" name="Google Shape;58;p13"/>
          <p:cNvSpPr txBox="1"/>
          <p:nvPr/>
        </p:nvSpPr>
        <p:spPr>
          <a:xfrm>
            <a:off x="714375" y="3313947"/>
            <a:ext cx="77151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800" u="none" cap="none" strike="noStrike">
                <a:solidFill>
                  <a:srgbClr val="64748B"/>
                </a:solidFill>
                <a:latin typeface="Lato"/>
                <a:ea typeface="Lato"/>
                <a:cs typeface="Lato"/>
                <a:sym typeface="Lato"/>
              </a:rPr>
              <a:t>Case Analysis &amp; Strategic Presentation</a:t>
            </a:r>
            <a:endParaRPr sz="1100"/>
          </a:p>
        </p:txBody>
      </p:sp>
      <p:sp>
        <p:nvSpPr>
          <p:cNvPr id="59" name="Google Shape;59;p13"/>
          <p:cNvSpPr txBox="1"/>
          <p:nvPr/>
        </p:nvSpPr>
        <p:spPr>
          <a:xfrm>
            <a:off x="1743281" y="3967463"/>
            <a:ext cx="4704900" cy="215400"/>
          </a:xfrm>
          <a:prstGeom prst="rect">
            <a:avLst/>
          </a:prstGeom>
          <a:noFill/>
          <a:ln>
            <a:noFill/>
          </a:ln>
        </p:spPr>
        <p:txBody>
          <a:bodyPr anchorCtr="0" anchor="t" bIns="0" lIns="0" spcFirstLastPara="1" rIns="0" wrap="square" tIns="0">
            <a:spAutoFit/>
          </a:bodyPr>
          <a:lstStyle/>
          <a:p>
            <a:pPr indent="0" lvl="0" marL="0" marR="0" rtl="0" algn="l">
              <a:lnSpc>
                <a:spcPct val="133333"/>
              </a:lnSpc>
              <a:spcBef>
                <a:spcPts val="0"/>
              </a:spcBef>
              <a:spcAft>
                <a:spcPts val="0"/>
              </a:spcAft>
              <a:buNone/>
            </a:pPr>
            <a:r>
              <a:rPr lang="en" sz="1400">
                <a:solidFill>
                  <a:srgbClr val="475569"/>
                </a:solidFill>
                <a:latin typeface="Lato"/>
                <a:ea typeface="Lato"/>
                <a:cs typeface="Lato"/>
                <a:sym typeface="Lato"/>
              </a:rPr>
              <a:t>Delaney Wu</a:t>
            </a:r>
            <a:r>
              <a:rPr lang="en" sz="1400">
                <a:solidFill>
                  <a:schemeClr val="dk1"/>
                </a:solidFill>
                <a:latin typeface="Lato"/>
                <a:ea typeface="Lato"/>
                <a:cs typeface="Lato"/>
                <a:sym typeface="Lato"/>
              </a:rPr>
              <a:t>, </a:t>
            </a:r>
            <a:r>
              <a:rPr lang="en" sz="1400">
                <a:solidFill>
                  <a:srgbClr val="475569"/>
                </a:solidFill>
                <a:latin typeface="Lato"/>
                <a:ea typeface="Lato"/>
                <a:cs typeface="Lato"/>
                <a:sym typeface="Lato"/>
              </a:rPr>
              <a:t>Jenny Suk</a:t>
            </a:r>
            <a:r>
              <a:rPr lang="en" sz="1400">
                <a:solidFill>
                  <a:schemeClr val="dk1"/>
                </a:solidFill>
                <a:latin typeface="Lato"/>
                <a:ea typeface="Lato"/>
                <a:cs typeface="Lato"/>
                <a:sym typeface="Lato"/>
              </a:rPr>
              <a:t>, </a:t>
            </a:r>
            <a:r>
              <a:rPr lang="en" sz="1400">
                <a:solidFill>
                  <a:srgbClr val="475569"/>
                </a:solidFill>
                <a:latin typeface="Lato"/>
                <a:ea typeface="Lato"/>
                <a:cs typeface="Lato"/>
                <a:sym typeface="Lato"/>
              </a:rPr>
              <a:t>Brendan Reed, Zoe Liu</a:t>
            </a:r>
            <a:endParaRPr sz="1400">
              <a:solidFill>
                <a:srgbClr val="475569"/>
              </a:solidFill>
              <a:latin typeface="Lato"/>
              <a:ea typeface="Lato"/>
              <a:cs typeface="Lato"/>
              <a:sym typeface="Lato"/>
            </a:endParaRPr>
          </a:p>
        </p:txBody>
      </p:sp>
      <p:pic>
        <p:nvPicPr>
          <p:cNvPr id="60" name="Google Shape;60;p13"/>
          <p:cNvPicPr preferRelativeResize="0"/>
          <p:nvPr/>
        </p:nvPicPr>
        <p:blipFill>
          <a:blip r:embed="rId3">
            <a:alphaModFix/>
          </a:blip>
          <a:stretch>
            <a:fillRect/>
          </a:stretch>
        </p:blipFill>
        <p:spPr>
          <a:xfrm>
            <a:off x="742875" y="950175"/>
            <a:ext cx="1909443" cy="1074050"/>
          </a:xfrm>
          <a:prstGeom prst="rect">
            <a:avLst/>
          </a:prstGeom>
          <a:noFill/>
          <a:ln>
            <a:noFill/>
          </a:ln>
        </p:spPr>
      </p:pic>
      <p:sp>
        <p:nvSpPr>
          <p:cNvPr id="61" name="Google Shape;61;p13"/>
          <p:cNvSpPr/>
          <p:nvPr/>
        </p:nvSpPr>
        <p:spPr>
          <a:xfrm>
            <a:off x="742875" y="3915125"/>
            <a:ext cx="838200" cy="320100"/>
          </a:xfrm>
          <a:prstGeom prst="roundRect">
            <a:avLst>
              <a:gd fmla="val 16667" name="adj"/>
            </a:avLst>
          </a:prstGeom>
          <a:solidFill>
            <a:srgbClr val="2E475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lt1"/>
                </a:solidFill>
                <a:highlight>
                  <a:srgbClr val="2E475D"/>
                </a:highlight>
                <a:latin typeface="Lato"/>
                <a:ea typeface="Lato"/>
                <a:cs typeface="Lato"/>
                <a:sym typeface="Lato"/>
              </a:rPr>
              <a:t>Group 7</a:t>
            </a:r>
            <a:endParaRPr b="1" sz="1200">
              <a:solidFill>
                <a:schemeClr val="lt1"/>
              </a:solidFill>
              <a:highlight>
                <a:srgbClr val="2E475D"/>
              </a:highlight>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 name="Shape 65"/>
        <p:cNvGrpSpPr/>
        <p:nvPr/>
      </p:nvGrpSpPr>
      <p:grpSpPr>
        <a:xfrm>
          <a:off x="0" y="0"/>
          <a:ext cx="0" cy="0"/>
          <a:chOff x="0" y="0"/>
          <a:chExt cx="0" cy="0"/>
        </a:xfrm>
      </p:grpSpPr>
      <p:sp>
        <p:nvSpPr>
          <p:cNvPr id="66" name="Google Shape;66;p14"/>
          <p:cNvSpPr/>
          <p:nvPr/>
        </p:nvSpPr>
        <p:spPr>
          <a:xfrm>
            <a:off x="0" y="0"/>
            <a:ext cx="9144000" cy="85800"/>
          </a:xfrm>
          <a:prstGeom prst="rect">
            <a:avLst/>
          </a:prstGeom>
          <a:solidFill>
            <a:srgbClr val="FF7A5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7" name="Google Shape;67;p14"/>
          <p:cNvSpPr txBox="1"/>
          <p:nvPr/>
        </p:nvSpPr>
        <p:spPr>
          <a:xfrm>
            <a:off x="296175" y="431125"/>
            <a:ext cx="81924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3600" u="none" cap="none" strike="noStrike">
                <a:solidFill>
                  <a:srgbClr val="2E475D"/>
                </a:solidFill>
                <a:latin typeface="Poppins"/>
                <a:ea typeface="Poppins"/>
                <a:cs typeface="Poppins"/>
                <a:sym typeface="Poppins"/>
              </a:rPr>
              <a:t>Who is HubSpot?</a:t>
            </a:r>
            <a:endParaRPr/>
          </a:p>
        </p:txBody>
      </p:sp>
      <p:sp>
        <p:nvSpPr>
          <p:cNvPr id="68" name="Google Shape;68;p14"/>
          <p:cNvSpPr txBox="1"/>
          <p:nvPr/>
        </p:nvSpPr>
        <p:spPr>
          <a:xfrm>
            <a:off x="296175" y="1138500"/>
            <a:ext cx="8418900" cy="595800"/>
          </a:xfrm>
          <a:prstGeom prst="rect">
            <a:avLst/>
          </a:prstGeom>
          <a:noFill/>
          <a:ln>
            <a:noFill/>
          </a:ln>
        </p:spPr>
        <p:txBody>
          <a:bodyPr anchorCtr="0" anchor="t" bIns="0" lIns="0" spcFirstLastPara="1" rIns="0" wrap="square" tIns="0">
            <a:spAutoFit/>
          </a:bodyPr>
          <a:lstStyle/>
          <a:p>
            <a:pPr indent="-342900" lvl="0" marL="457200" marR="0" rtl="0" algn="l">
              <a:lnSpc>
                <a:spcPct val="115000"/>
              </a:lnSpc>
              <a:spcBef>
                <a:spcPts val="0"/>
              </a:spcBef>
              <a:spcAft>
                <a:spcPts val="0"/>
              </a:spcAft>
              <a:buClr>
                <a:srgbClr val="2E475D"/>
              </a:buClr>
              <a:buSzPts val="1800"/>
              <a:buFont typeface="Lato"/>
              <a:buChar char="●"/>
            </a:pPr>
            <a:r>
              <a:rPr i="0" lang="en" sz="1800" u="none" cap="none" strike="noStrike">
                <a:solidFill>
                  <a:srgbClr val="2E475D"/>
                </a:solidFill>
                <a:latin typeface="Lato"/>
                <a:ea typeface="Lato"/>
                <a:cs typeface="Lato"/>
                <a:sym typeface="Lato"/>
              </a:rPr>
              <a:t>CRM &amp; Marketing Platform</a:t>
            </a:r>
            <a:endParaRPr i="0" sz="1800" u="none" cap="none" strike="noStrike">
              <a:solidFill>
                <a:srgbClr val="2E475D"/>
              </a:solidFill>
              <a:latin typeface="Lato"/>
              <a:ea typeface="Lato"/>
              <a:cs typeface="Lato"/>
              <a:sym typeface="Lato"/>
            </a:endParaRPr>
          </a:p>
          <a:p>
            <a:pPr indent="-342900" lvl="0" marL="457200" rtl="0" algn="l">
              <a:lnSpc>
                <a:spcPct val="115000"/>
              </a:lnSpc>
              <a:spcBef>
                <a:spcPts val="0"/>
              </a:spcBef>
              <a:spcAft>
                <a:spcPts val="0"/>
              </a:spcAft>
              <a:buClr>
                <a:srgbClr val="2E475D"/>
              </a:buClr>
              <a:buSzPts val="1800"/>
              <a:buFont typeface="Lato"/>
              <a:buChar char="●"/>
            </a:pPr>
            <a:r>
              <a:rPr lang="en" sz="1800">
                <a:solidFill>
                  <a:srgbClr val="2E475D"/>
                </a:solidFill>
                <a:latin typeface="Lato"/>
                <a:ea typeface="Lato"/>
                <a:cs typeface="Lato"/>
                <a:sym typeface="Lato"/>
              </a:rPr>
              <a:t>Designed specifically for SMBs to manage the entire customer journey.</a:t>
            </a:r>
            <a:endParaRPr sz="1800">
              <a:solidFill>
                <a:srgbClr val="2E475D"/>
              </a:solidFill>
              <a:latin typeface="Lato"/>
              <a:ea typeface="Lato"/>
              <a:cs typeface="Lato"/>
              <a:sym typeface="Lato"/>
            </a:endParaRPr>
          </a:p>
        </p:txBody>
      </p:sp>
      <p:pic>
        <p:nvPicPr>
          <p:cNvPr id="69" name="Google Shape;69;p14"/>
          <p:cNvPicPr preferRelativeResize="0"/>
          <p:nvPr/>
        </p:nvPicPr>
        <p:blipFill>
          <a:blip r:embed="rId3">
            <a:alphaModFix/>
          </a:blip>
          <a:stretch>
            <a:fillRect/>
          </a:stretch>
        </p:blipFill>
        <p:spPr>
          <a:xfrm>
            <a:off x="359575" y="2140975"/>
            <a:ext cx="2361175" cy="2077050"/>
          </a:xfrm>
          <a:prstGeom prst="rect">
            <a:avLst/>
          </a:prstGeom>
          <a:noFill/>
          <a:ln>
            <a:noFill/>
          </a:ln>
        </p:spPr>
      </p:pic>
      <p:pic>
        <p:nvPicPr>
          <p:cNvPr id="70" name="Google Shape;70;p14"/>
          <p:cNvPicPr preferRelativeResize="0"/>
          <p:nvPr/>
        </p:nvPicPr>
        <p:blipFill>
          <a:blip r:embed="rId4">
            <a:alphaModFix/>
          </a:blip>
          <a:stretch>
            <a:fillRect/>
          </a:stretch>
        </p:blipFill>
        <p:spPr>
          <a:xfrm>
            <a:off x="3400575" y="2103300"/>
            <a:ext cx="2385347" cy="2114725"/>
          </a:xfrm>
          <a:prstGeom prst="rect">
            <a:avLst/>
          </a:prstGeom>
          <a:noFill/>
          <a:ln>
            <a:noFill/>
          </a:ln>
        </p:spPr>
      </p:pic>
      <p:pic>
        <p:nvPicPr>
          <p:cNvPr id="71" name="Google Shape;71;p14"/>
          <p:cNvPicPr preferRelativeResize="0"/>
          <p:nvPr/>
        </p:nvPicPr>
        <p:blipFill>
          <a:blip r:embed="rId5">
            <a:alphaModFix/>
          </a:blip>
          <a:stretch>
            <a:fillRect/>
          </a:stretch>
        </p:blipFill>
        <p:spPr>
          <a:xfrm>
            <a:off x="6465750" y="2103300"/>
            <a:ext cx="2440049" cy="2114725"/>
          </a:xfrm>
          <a:prstGeom prst="rect">
            <a:avLst/>
          </a:prstGeom>
          <a:noFill/>
          <a:ln>
            <a:noFill/>
          </a:ln>
        </p:spPr>
      </p:pic>
      <p:sp>
        <p:nvSpPr>
          <p:cNvPr id="72" name="Google Shape;72;p14"/>
          <p:cNvSpPr txBox="1"/>
          <p:nvPr/>
        </p:nvSpPr>
        <p:spPr>
          <a:xfrm>
            <a:off x="1876350" y="4368700"/>
            <a:ext cx="5391300" cy="414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solidFill>
                  <a:srgbClr val="FF7A59"/>
                </a:solidFill>
                <a:latin typeface="Lato Black"/>
                <a:ea typeface="Lato Black"/>
                <a:cs typeface="Lato Black"/>
                <a:sym typeface="Lato Black"/>
              </a:rPr>
              <a:t>Attract → Convert → Retain</a:t>
            </a:r>
            <a:endParaRPr sz="3000">
              <a:solidFill>
                <a:srgbClr val="FF7A59"/>
              </a:solidFill>
              <a:latin typeface="Lato Black"/>
              <a:ea typeface="Lato Black"/>
              <a:cs typeface="Lato Black"/>
              <a:sym typeface="Lato Black"/>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 name="Shape 76"/>
        <p:cNvGrpSpPr/>
        <p:nvPr/>
      </p:nvGrpSpPr>
      <p:grpSpPr>
        <a:xfrm>
          <a:off x="0" y="0"/>
          <a:ext cx="0" cy="0"/>
          <a:chOff x="0" y="0"/>
          <a:chExt cx="0" cy="0"/>
        </a:xfrm>
      </p:grpSpPr>
      <p:sp>
        <p:nvSpPr>
          <p:cNvPr id="77" name="Google Shape;77;p15"/>
          <p:cNvSpPr/>
          <p:nvPr/>
        </p:nvSpPr>
        <p:spPr>
          <a:xfrm>
            <a:off x="0" y="0"/>
            <a:ext cx="9144000" cy="85800"/>
          </a:xfrm>
          <a:prstGeom prst="rect">
            <a:avLst/>
          </a:prstGeom>
          <a:solidFill>
            <a:srgbClr val="FF7A5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8" name="Google Shape;78;p15"/>
          <p:cNvSpPr txBox="1"/>
          <p:nvPr/>
        </p:nvSpPr>
        <p:spPr>
          <a:xfrm>
            <a:off x="296175" y="431125"/>
            <a:ext cx="81924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3600">
                <a:solidFill>
                  <a:srgbClr val="2E475D"/>
                </a:solidFill>
                <a:latin typeface="Poppins"/>
                <a:ea typeface="Poppins"/>
                <a:cs typeface="Poppins"/>
                <a:sym typeface="Poppins"/>
              </a:rPr>
              <a:t>The Core Subject</a:t>
            </a:r>
            <a:endParaRPr/>
          </a:p>
        </p:txBody>
      </p:sp>
      <p:pic>
        <p:nvPicPr>
          <p:cNvPr id="79" name="Google Shape;79;p15"/>
          <p:cNvPicPr preferRelativeResize="0"/>
          <p:nvPr/>
        </p:nvPicPr>
        <p:blipFill>
          <a:blip r:embed="rId3">
            <a:alphaModFix/>
          </a:blip>
          <a:stretch>
            <a:fillRect/>
          </a:stretch>
        </p:blipFill>
        <p:spPr>
          <a:xfrm>
            <a:off x="576150" y="1212975"/>
            <a:ext cx="3679900" cy="2882600"/>
          </a:xfrm>
          <a:prstGeom prst="rect">
            <a:avLst/>
          </a:prstGeom>
          <a:noFill/>
          <a:ln>
            <a:noFill/>
          </a:ln>
        </p:spPr>
      </p:pic>
      <p:pic>
        <p:nvPicPr>
          <p:cNvPr id="80" name="Google Shape;80;p15"/>
          <p:cNvPicPr preferRelativeResize="0"/>
          <p:nvPr/>
        </p:nvPicPr>
        <p:blipFill>
          <a:blip r:embed="rId4">
            <a:alphaModFix/>
          </a:blip>
          <a:stretch>
            <a:fillRect/>
          </a:stretch>
        </p:blipFill>
        <p:spPr>
          <a:xfrm>
            <a:off x="4808675" y="1163525"/>
            <a:ext cx="3830940" cy="2932049"/>
          </a:xfrm>
          <a:prstGeom prst="rect">
            <a:avLst/>
          </a:prstGeom>
          <a:noFill/>
          <a:ln>
            <a:noFill/>
          </a:ln>
        </p:spPr>
      </p:pic>
      <p:sp>
        <p:nvSpPr>
          <p:cNvPr id="81" name="Google Shape;81;p15"/>
          <p:cNvSpPr/>
          <p:nvPr/>
        </p:nvSpPr>
        <p:spPr>
          <a:xfrm>
            <a:off x="428000" y="4540275"/>
            <a:ext cx="8400000" cy="744900"/>
          </a:xfrm>
          <a:prstGeom prst="roundRect">
            <a:avLst>
              <a:gd fmla="val 16667" name="adj"/>
            </a:avLst>
          </a:prstGeom>
          <a:solidFill>
            <a:srgbClr val="2E475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FF7A59"/>
                </a:solidFill>
                <a:latin typeface="Poppins"/>
                <a:ea typeface="Poppins"/>
                <a:cs typeface="Poppins"/>
                <a:sym typeface="Poppins"/>
              </a:rPr>
              <a:t>Key Question:</a:t>
            </a:r>
            <a:r>
              <a:rPr b="1" lang="en" sz="2000">
                <a:latin typeface="Poppins"/>
                <a:ea typeface="Poppins"/>
                <a:cs typeface="Poppins"/>
                <a:sym typeface="Poppins"/>
              </a:rPr>
              <a:t> </a:t>
            </a:r>
            <a:r>
              <a:rPr b="1" lang="en" sz="2000">
                <a:solidFill>
                  <a:schemeClr val="lt1"/>
                </a:solidFill>
                <a:latin typeface="Poppins"/>
                <a:ea typeface="Poppins"/>
                <a:cs typeface="Poppins"/>
                <a:sym typeface="Poppins"/>
              </a:rPr>
              <a:t>When </a:t>
            </a:r>
            <a:r>
              <a:rPr b="1" lang="en" sz="2000">
                <a:solidFill>
                  <a:schemeClr val="lt1"/>
                </a:solidFill>
                <a:latin typeface="Poppins"/>
                <a:ea typeface="Poppins"/>
                <a:cs typeface="Poppins"/>
                <a:sym typeface="Poppins"/>
              </a:rPr>
              <a:t>should</a:t>
            </a:r>
            <a:r>
              <a:rPr b="1" lang="en" sz="2000">
                <a:solidFill>
                  <a:schemeClr val="lt1"/>
                </a:solidFill>
                <a:latin typeface="Poppins"/>
                <a:ea typeface="Poppins"/>
                <a:cs typeface="Poppins"/>
                <a:sym typeface="Poppins"/>
              </a:rPr>
              <a:t> HubSpot use Chatbots vs. Human</a:t>
            </a:r>
            <a:endParaRPr b="1" sz="2000">
              <a:solidFill>
                <a:schemeClr val="lt1"/>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 name="Shape 85"/>
        <p:cNvGrpSpPr/>
        <p:nvPr/>
      </p:nvGrpSpPr>
      <p:grpSpPr>
        <a:xfrm>
          <a:off x="0" y="0"/>
          <a:ext cx="0" cy="0"/>
          <a:chOff x="0" y="0"/>
          <a:chExt cx="0" cy="0"/>
        </a:xfrm>
      </p:grpSpPr>
      <p:sp>
        <p:nvSpPr>
          <p:cNvPr id="86" name="Google Shape;86;p16"/>
          <p:cNvSpPr/>
          <p:nvPr/>
        </p:nvSpPr>
        <p:spPr>
          <a:xfrm>
            <a:off x="0" y="0"/>
            <a:ext cx="9144000" cy="85800"/>
          </a:xfrm>
          <a:prstGeom prst="rect">
            <a:avLst/>
          </a:prstGeom>
          <a:solidFill>
            <a:srgbClr val="FF7A5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87" name="Google Shape;87;p16"/>
          <p:cNvSpPr txBox="1"/>
          <p:nvPr/>
        </p:nvSpPr>
        <p:spPr>
          <a:xfrm>
            <a:off x="305600" y="685375"/>
            <a:ext cx="8192400" cy="5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3600">
                <a:solidFill>
                  <a:srgbClr val="2E475D"/>
                </a:solidFill>
                <a:latin typeface="Poppins"/>
                <a:ea typeface="Poppins"/>
                <a:cs typeface="Poppins"/>
                <a:sym typeface="Poppins"/>
              </a:rPr>
              <a:t>The Ultimate Challenge</a:t>
            </a:r>
            <a:endParaRPr/>
          </a:p>
        </p:txBody>
      </p:sp>
      <p:sp>
        <p:nvSpPr>
          <p:cNvPr id="88" name="Google Shape;88;p16"/>
          <p:cNvSpPr txBox="1"/>
          <p:nvPr/>
        </p:nvSpPr>
        <p:spPr>
          <a:xfrm>
            <a:off x="536850" y="1573500"/>
            <a:ext cx="8070300" cy="1996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3000">
                <a:solidFill>
                  <a:schemeClr val="dk2"/>
                </a:solidFill>
                <a:latin typeface="Poppins"/>
                <a:ea typeface="Poppins"/>
                <a:cs typeface="Poppins"/>
                <a:sym typeface="Poppins"/>
              </a:rPr>
              <a:t>How to balance </a:t>
            </a:r>
            <a:r>
              <a:rPr b="1" lang="en" sz="3000">
                <a:solidFill>
                  <a:srgbClr val="FF7A59"/>
                </a:solidFill>
                <a:latin typeface="Poppins"/>
                <a:ea typeface="Poppins"/>
                <a:cs typeface="Poppins"/>
                <a:sym typeface="Poppins"/>
              </a:rPr>
              <a:t>Efficiency</a:t>
            </a:r>
            <a:r>
              <a:rPr lang="en" sz="3000">
                <a:solidFill>
                  <a:schemeClr val="dk2"/>
                </a:solidFill>
                <a:latin typeface="Poppins"/>
                <a:ea typeface="Poppins"/>
                <a:cs typeface="Poppins"/>
                <a:sym typeface="Poppins"/>
              </a:rPr>
              <a:t> of automation with the </a:t>
            </a:r>
            <a:r>
              <a:rPr b="1" lang="en" sz="3000">
                <a:solidFill>
                  <a:srgbClr val="FF7A59"/>
                </a:solidFill>
                <a:latin typeface="Poppins"/>
                <a:ea typeface="Poppins"/>
                <a:cs typeface="Poppins"/>
                <a:sym typeface="Poppins"/>
              </a:rPr>
              <a:t>User Experience</a:t>
            </a:r>
            <a:r>
              <a:rPr lang="en" sz="3000">
                <a:solidFill>
                  <a:schemeClr val="dk2"/>
                </a:solidFill>
                <a:latin typeface="Poppins"/>
                <a:ea typeface="Poppins"/>
                <a:cs typeface="Poppins"/>
                <a:sym typeface="Poppins"/>
              </a:rPr>
              <a:t> </a:t>
            </a:r>
            <a:r>
              <a:rPr b="1" lang="en" sz="3000">
                <a:solidFill>
                  <a:srgbClr val="FF7A59"/>
                </a:solidFill>
                <a:latin typeface="Poppins"/>
                <a:ea typeface="Poppins"/>
                <a:cs typeface="Poppins"/>
                <a:sym typeface="Poppins"/>
              </a:rPr>
              <a:t>and Trust </a:t>
            </a:r>
            <a:r>
              <a:rPr lang="en" sz="3000">
                <a:solidFill>
                  <a:schemeClr val="dk2"/>
                </a:solidFill>
                <a:latin typeface="Poppins"/>
                <a:ea typeface="Poppins"/>
                <a:cs typeface="Poppins"/>
                <a:sym typeface="Poppins"/>
              </a:rPr>
              <a:t>of human interaction in platform design</a:t>
            </a:r>
            <a:endParaRPr sz="3000">
              <a:solidFill>
                <a:schemeClr val="dk2"/>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 name="Shape 92"/>
        <p:cNvGrpSpPr/>
        <p:nvPr/>
      </p:nvGrpSpPr>
      <p:grpSpPr>
        <a:xfrm>
          <a:off x="0" y="0"/>
          <a:ext cx="0" cy="0"/>
          <a:chOff x="0" y="0"/>
          <a:chExt cx="0" cy="0"/>
        </a:xfrm>
      </p:grpSpPr>
      <p:sp>
        <p:nvSpPr>
          <p:cNvPr id="93" name="Google Shape;93;p17"/>
          <p:cNvSpPr/>
          <p:nvPr/>
        </p:nvSpPr>
        <p:spPr>
          <a:xfrm>
            <a:off x="0" y="0"/>
            <a:ext cx="9144000" cy="85800"/>
          </a:xfrm>
          <a:prstGeom prst="rect">
            <a:avLst/>
          </a:prstGeom>
          <a:solidFill>
            <a:srgbClr val="FF7A5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4" name="Google Shape;94;p17"/>
          <p:cNvSpPr txBox="1"/>
          <p:nvPr/>
        </p:nvSpPr>
        <p:spPr>
          <a:xfrm>
            <a:off x="291800" y="360900"/>
            <a:ext cx="81924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3600">
                <a:solidFill>
                  <a:srgbClr val="2E475D"/>
                </a:solidFill>
                <a:latin typeface="Poppins"/>
                <a:ea typeface="Poppins"/>
                <a:cs typeface="Poppins"/>
                <a:sym typeface="Poppins"/>
              </a:rPr>
              <a:t>Main Outcomes</a:t>
            </a:r>
            <a:endParaRPr/>
          </a:p>
        </p:txBody>
      </p:sp>
      <p:sp>
        <p:nvSpPr>
          <p:cNvPr id="95" name="Google Shape;95;p17"/>
          <p:cNvSpPr txBox="1"/>
          <p:nvPr/>
        </p:nvSpPr>
        <p:spPr>
          <a:xfrm>
            <a:off x="536850" y="1235200"/>
            <a:ext cx="8070300" cy="3165300"/>
          </a:xfrm>
          <a:prstGeom prst="rect">
            <a:avLst/>
          </a:prstGeom>
          <a:noFill/>
          <a:ln>
            <a:noFill/>
          </a:ln>
        </p:spPr>
        <p:txBody>
          <a:bodyPr anchorCtr="0" anchor="t" bIns="91425" lIns="91425" spcFirstLastPara="1" rIns="91425" wrap="square" tIns="91425">
            <a:noAutofit/>
          </a:bodyPr>
          <a:lstStyle/>
          <a:p>
            <a:pPr indent="-361950" lvl="0" marL="457200" rtl="0" algn="l">
              <a:lnSpc>
                <a:spcPct val="115000"/>
              </a:lnSpc>
              <a:spcBef>
                <a:spcPts val="0"/>
              </a:spcBef>
              <a:spcAft>
                <a:spcPts val="0"/>
              </a:spcAft>
              <a:buSzPts val="2100"/>
              <a:buFont typeface="Poppins"/>
              <a:buChar char="●"/>
            </a:pPr>
            <a:r>
              <a:rPr lang="en" sz="2100">
                <a:solidFill>
                  <a:schemeClr val="dk2"/>
                </a:solidFill>
                <a:latin typeface="Poppins"/>
                <a:ea typeface="Poppins"/>
                <a:cs typeface="Poppins"/>
                <a:sym typeface="Poppins"/>
              </a:rPr>
              <a:t>Chatbots show </a:t>
            </a:r>
            <a:r>
              <a:rPr b="1" lang="en" sz="2100">
                <a:solidFill>
                  <a:schemeClr val="dk2"/>
                </a:solidFill>
                <a:latin typeface="Poppins"/>
                <a:ea typeface="Poppins"/>
                <a:cs typeface="Poppins"/>
                <a:sym typeface="Poppins"/>
              </a:rPr>
              <a:t>high potential</a:t>
            </a:r>
            <a:r>
              <a:rPr lang="en" sz="2100">
                <a:solidFill>
                  <a:schemeClr val="dk2"/>
                </a:solidFill>
                <a:latin typeface="Poppins"/>
                <a:ea typeface="Poppins"/>
                <a:cs typeface="Poppins"/>
                <a:sym typeface="Poppins"/>
              </a:rPr>
              <a:t> but are still </a:t>
            </a:r>
            <a:r>
              <a:rPr b="1" lang="en" sz="2100">
                <a:solidFill>
                  <a:schemeClr val="dk2"/>
                </a:solidFill>
                <a:latin typeface="Poppins"/>
                <a:ea typeface="Poppins"/>
                <a:cs typeface="Poppins"/>
                <a:sym typeface="Poppins"/>
              </a:rPr>
              <a:t>immature</a:t>
            </a:r>
            <a:endParaRPr b="1" sz="2100">
              <a:solidFill>
                <a:schemeClr val="dk2"/>
              </a:solidFill>
              <a:latin typeface="Poppins"/>
              <a:ea typeface="Poppins"/>
              <a:cs typeface="Poppins"/>
              <a:sym typeface="Poppins"/>
            </a:endParaRPr>
          </a:p>
          <a:p>
            <a:pPr indent="0" lvl="0" marL="457200" rtl="0" algn="l">
              <a:lnSpc>
                <a:spcPct val="115000"/>
              </a:lnSpc>
              <a:spcBef>
                <a:spcPts val="0"/>
              </a:spcBef>
              <a:spcAft>
                <a:spcPts val="0"/>
              </a:spcAft>
              <a:buNone/>
            </a:pPr>
            <a:r>
              <a:t/>
            </a:r>
            <a:endParaRPr sz="2100">
              <a:solidFill>
                <a:schemeClr val="dk2"/>
              </a:solidFill>
              <a:latin typeface="Poppins"/>
              <a:ea typeface="Poppins"/>
              <a:cs typeface="Poppins"/>
              <a:sym typeface="Poppins"/>
            </a:endParaRPr>
          </a:p>
          <a:p>
            <a:pPr indent="-361950" lvl="0" marL="457200" rtl="0" algn="l">
              <a:lnSpc>
                <a:spcPct val="115000"/>
              </a:lnSpc>
              <a:spcBef>
                <a:spcPts val="0"/>
              </a:spcBef>
              <a:spcAft>
                <a:spcPts val="0"/>
              </a:spcAft>
              <a:buClr>
                <a:schemeClr val="dk2"/>
              </a:buClr>
              <a:buSzPts val="2100"/>
              <a:buFont typeface="Poppins"/>
              <a:buChar char="●"/>
            </a:pPr>
            <a:r>
              <a:rPr lang="en" sz="2100">
                <a:solidFill>
                  <a:schemeClr val="dk2"/>
                </a:solidFill>
                <a:latin typeface="Poppins"/>
                <a:ea typeface="Poppins"/>
                <a:cs typeface="Poppins"/>
                <a:sym typeface="Poppins"/>
              </a:rPr>
              <a:t>Bots struggle with </a:t>
            </a:r>
            <a:r>
              <a:rPr b="1" lang="en" sz="2100">
                <a:solidFill>
                  <a:schemeClr val="dk2"/>
                </a:solidFill>
                <a:latin typeface="Poppins"/>
                <a:ea typeface="Poppins"/>
                <a:cs typeface="Poppins"/>
                <a:sym typeface="Poppins"/>
              </a:rPr>
              <a:t>complex</a:t>
            </a:r>
            <a:r>
              <a:rPr lang="en" sz="2100">
                <a:solidFill>
                  <a:schemeClr val="dk2"/>
                </a:solidFill>
                <a:latin typeface="Poppins"/>
                <a:ea typeface="Poppins"/>
                <a:cs typeface="Poppins"/>
                <a:sym typeface="Poppins"/>
              </a:rPr>
              <a:t>, </a:t>
            </a:r>
            <a:r>
              <a:rPr b="1" lang="en" sz="2100">
                <a:solidFill>
                  <a:schemeClr val="dk2"/>
                </a:solidFill>
                <a:latin typeface="Poppins"/>
                <a:ea typeface="Poppins"/>
                <a:cs typeface="Poppins"/>
                <a:sym typeface="Poppins"/>
              </a:rPr>
              <a:t>ambiguous</a:t>
            </a:r>
            <a:r>
              <a:rPr lang="en" sz="2100">
                <a:solidFill>
                  <a:schemeClr val="dk2"/>
                </a:solidFill>
                <a:latin typeface="Poppins"/>
                <a:ea typeface="Poppins"/>
                <a:cs typeface="Poppins"/>
                <a:sym typeface="Poppins"/>
              </a:rPr>
              <a:t>, or </a:t>
            </a:r>
            <a:r>
              <a:rPr b="1" lang="en" sz="2100">
                <a:solidFill>
                  <a:schemeClr val="dk2"/>
                </a:solidFill>
                <a:latin typeface="Poppins"/>
                <a:ea typeface="Poppins"/>
                <a:cs typeface="Poppins"/>
                <a:sym typeface="Poppins"/>
              </a:rPr>
              <a:t>context</a:t>
            </a:r>
            <a:r>
              <a:rPr lang="en" sz="2100">
                <a:solidFill>
                  <a:schemeClr val="dk2"/>
                </a:solidFill>
                <a:latin typeface="Poppins"/>
                <a:ea typeface="Poppins"/>
                <a:cs typeface="Poppins"/>
                <a:sym typeface="Poppins"/>
              </a:rPr>
              <a:t> based conversations</a:t>
            </a:r>
            <a:endParaRPr sz="2100">
              <a:solidFill>
                <a:schemeClr val="dk2"/>
              </a:solidFill>
              <a:latin typeface="Poppins"/>
              <a:ea typeface="Poppins"/>
              <a:cs typeface="Poppins"/>
              <a:sym typeface="Poppins"/>
            </a:endParaRPr>
          </a:p>
          <a:p>
            <a:pPr indent="0" lvl="0" marL="457200" rtl="0" algn="l">
              <a:lnSpc>
                <a:spcPct val="115000"/>
              </a:lnSpc>
              <a:spcBef>
                <a:spcPts val="0"/>
              </a:spcBef>
              <a:spcAft>
                <a:spcPts val="0"/>
              </a:spcAft>
              <a:buNone/>
            </a:pPr>
            <a:r>
              <a:t/>
            </a:r>
            <a:endParaRPr sz="2100">
              <a:solidFill>
                <a:schemeClr val="dk2"/>
              </a:solidFill>
              <a:latin typeface="Poppins"/>
              <a:ea typeface="Poppins"/>
              <a:cs typeface="Poppins"/>
              <a:sym typeface="Poppins"/>
            </a:endParaRPr>
          </a:p>
          <a:p>
            <a:pPr indent="-361950" lvl="0" marL="457200" rtl="0" algn="l">
              <a:lnSpc>
                <a:spcPct val="115000"/>
              </a:lnSpc>
              <a:spcBef>
                <a:spcPts val="0"/>
              </a:spcBef>
              <a:spcAft>
                <a:spcPts val="0"/>
              </a:spcAft>
              <a:buClr>
                <a:schemeClr val="dk2"/>
              </a:buClr>
              <a:buSzPts val="2100"/>
              <a:buFont typeface="Poppins"/>
              <a:buChar char="●"/>
            </a:pPr>
            <a:r>
              <a:rPr lang="en" sz="2100">
                <a:solidFill>
                  <a:schemeClr val="dk2"/>
                </a:solidFill>
                <a:latin typeface="Poppins"/>
                <a:ea typeface="Poppins"/>
                <a:cs typeface="Poppins"/>
                <a:sym typeface="Poppins"/>
              </a:rPr>
              <a:t>Mixed customer/consumer </a:t>
            </a:r>
            <a:r>
              <a:rPr b="1" lang="en" sz="2100">
                <a:solidFill>
                  <a:schemeClr val="dk2"/>
                </a:solidFill>
                <a:latin typeface="Poppins"/>
                <a:ea typeface="Poppins"/>
                <a:cs typeface="Poppins"/>
                <a:sym typeface="Poppins"/>
              </a:rPr>
              <a:t>preferences</a:t>
            </a:r>
            <a:endParaRPr b="1" sz="2100">
              <a:solidFill>
                <a:schemeClr val="dk2"/>
              </a:solidFill>
              <a:latin typeface="Poppins"/>
              <a:ea typeface="Poppins"/>
              <a:cs typeface="Poppins"/>
              <a:sym typeface="Poppins"/>
            </a:endParaRPr>
          </a:p>
          <a:p>
            <a:pPr indent="0" lvl="0" marL="457200" rtl="0" algn="l">
              <a:lnSpc>
                <a:spcPct val="115000"/>
              </a:lnSpc>
              <a:spcBef>
                <a:spcPts val="0"/>
              </a:spcBef>
              <a:spcAft>
                <a:spcPts val="0"/>
              </a:spcAft>
              <a:buNone/>
            </a:pPr>
            <a:r>
              <a:t/>
            </a:r>
            <a:endParaRPr sz="2100">
              <a:solidFill>
                <a:schemeClr val="dk2"/>
              </a:solidFill>
              <a:latin typeface="Poppins"/>
              <a:ea typeface="Poppins"/>
              <a:cs typeface="Poppins"/>
              <a:sym typeface="Poppins"/>
            </a:endParaRPr>
          </a:p>
          <a:p>
            <a:pPr indent="0" lvl="0" marL="0" rtl="0" algn="l">
              <a:lnSpc>
                <a:spcPct val="115000"/>
              </a:lnSpc>
              <a:spcBef>
                <a:spcPts val="0"/>
              </a:spcBef>
              <a:spcAft>
                <a:spcPts val="0"/>
              </a:spcAft>
              <a:buNone/>
            </a:pPr>
            <a:r>
              <a:rPr b="1" lang="en" sz="2000">
                <a:solidFill>
                  <a:srgbClr val="CC0000"/>
                </a:solidFill>
                <a:latin typeface="Poppins"/>
                <a:ea typeface="Poppins"/>
                <a:cs typeface="Poppins"/>
                <a:sym typeface="Poppins"/>
              </a:rPr>
              <a:t>The biggest challenge is not technical, but conversational</a:t>
            </a:r>
            <a:endParaRPr b="1" sz="2000">
              <a:solidFill>
                <a:srgbClr val="CC0000"/>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 name="Shape 99"/>
        <p:cNvGrpSpPr/>
        <p:nvPr/>
      </p:nvGrpSpPr>
      <p:grpSpPr>
        <a:xfrm>
          <a:off x="0" y="0"/>
          <a:ext cx="0" cy="0"/>
          <a:chOff x="0" y="0"/>
          <a:chExt cx="0" cy="0"/>
        </a:xfrm>
      </p:grpSpPr>
      <p:sp>
        <p:nvSpPr>
          <p:cNvPr id="100" name="Google Shape;100;p18"/>
          <p:cNvSpPr/>
          <p:nvPr/>
        </p:nvSpPr>
        <p:spPr>
          <a:xfrm>
            <a:off x="0" y="0"/>
            <a:ext cx="9144000" cy="85800"/>
          </a:xfrm>
          <a:prstGeom prst="rect">
            <a:avLst/>
          </a:prstGeom>
          <a:solidFill>
            <a:srgbClr val="FF7A5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1" name="Google Shape;101;p18"/>
          <p:cNvSpPr txBox="1"/>
          <p:nvPr/>
        </p:nvSpPr>
        <p:spPr>
          <a:xfrm>
            <a:off x="312500" y="326350"/>
            <a:ext cx="81924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3600">
                <a:solidFill>
                  <a:srgbClr val="2E475D"/>
                </a:solidFill>
                <a:latin typeface="Poppins"/>
                <a:ea typeface="Poppins"/>
                <a:cs typeface="Poppins"/>
                <a:sym typeface="Poppins"/>
              </a:rPr>
              <a:t>Strategic Takeaways</a:t>
            </a:r>
            <a:endParaRPr/>
          </a:p>
        </p:txBody>
      </p:sp>
      <p:sp>
        <p:nvSpPr>
          <p:cNvPr id="102" name="Google Shape;102;p18"/>
          <p:cNvSpPr txBox="1"/>
          <p:nvPr/>
        </p:nvSpPr>
        <p:spPr>
          <a:xfrm>
            <a:off x="536850" y="1344630"/>
            <a:ext cx="8070300" cy="3017400"/>
          </a:xfrm>
          <a:prstGeom prst="rect">
            <a:avLst/>
          </a:prstGeom>
          <a:noFill/>
          <a:ln>
            <a:noFill/>
          </a:ln>
        </p:spPr>
        <p:txBody>
          <a:bodyPr anchorCtr="0" anchor="t" bIns="91425" lIns="91425" spcFirstLastPara="1" rIns="91425" wrap="square" tIns="91425">
            <a:noAutofit/>
          </a:bodyPr>
          <a:lstStyle/>
          <a:p>
            <a:pPr indent="-349250" lvl="0" marL="457200" rtl="0" algn="l">
              <a:lnSpc>
                <a:spcPct val="115000"/>
              </a:lnSpc>
              <a:spcBef>
                <a:spcPts val="0"/>
              </a:spcBef>
              <a:spcAft>
                <a:spcPts val="0"/>
              </a:spcAft>
              <a:buClr>
                <a:schemeClr val="dk2"/>
              </a:buClr>
              <a:buSzPts val="1900"/>
              <a:buFont typeface="Poppins"/>
              <a:buChar char="●"/>
            </a:pPr>
            <a:r>
              <a:rPr lang="en" sz="1900">
                <a:solidFill>
                  <a:schemeClr val="dk2"/>
                </a:solidFill>
                <a:latin typeface="Poppins"/>
                <a:ea typeface="Poppins"/>
                <a:cs typeface="Poppins"/>
                <a:sym typeface="Poppins"/>
              </a:rPr>
              <a:t>The most optimal strategy is to use a </a:t>
            </a:r>
            <a:r>
              <a:rPr b="1" lang="en" sz="1900">
                <a:solidFill>
                  <a:schemeClr val="dk2"/>
                </a:solidFill>
                <a:latin typeface="Poppins"/>
                <a:ea typeface="Poppins"/>
                <a:cs typeface="Poppins"/>
                <a:sym typeface="Poppins"/>
              </a:rPr>
              <a:t>hybrid model</a:t>
            </a:r>
            <a:r>
              <a:rPr lang="en" sz="1900">
                <a:solidFill>
                  <a:schemeClr val="dk2"/>
                </a:solidFill>
                <a:latin typeface="Poppins"/>
                <a:ea typeface="Poppins"/>
                <a:cs typeface="Poppins"/>
                <a:sym typeface="Poppins"/>
              </a:rPr>
              <a:t> (human + bot)</a:t>
            </a:r>
            <a:endParaRPr sz="1900">
              <a:solidFill>
                <a:schemeClr val="dk2"/>
              </a:solidFill>
              <a:latin typeface="Poppins"/>
              <a:ea typeface="Poppins"/>
              <a:cs typeface="Poppins"/>
              <a:sym typeface="Poppins"/>
            </a:endParaRPr>
          </a:p>
          <a:p>
            <a:pPr indent="0" lvl="0" marL="0" rtl="0" algn="l">
              <a:lnSpc>
                <a:spcPct val="115000"/>
              </a:lnSpc>
              <a:spcBef>
                <a:spcPts val="0"/>
              </a:spcBef>
              <a:spcAft>
                <a:spcPts val="0"/>
              </a:spcAft>
              <a:buNone/>
            </a:pPr>
            <a:r>
              <a:t/>
            </a:r>
            <a:endParaRPr sz="1900">
              <a:solidFill>
                <a:schemeClr val="dk2"/>
              </a:solidFill>
              <a:latin typeface="Poppins"/>
              <a:ea typeface="Poppins"/>
              <a:cs typeface="Poppins"/>
              <a:sym typeface="Poppins"/>
            </a:endParaRPr>
          </a:p>
          <a:p>
            <a:pPr indent="-349250" lvl="0" marL="457200" rtl="0" algn="l">
              <a:lnSpc>
                <a:spcPct val="115000"/>
              </a:lnSpc>
              <a:spcBef>
                <a:spcPts val="0"/>
              </a:spcBef>
              <a:spcAft>
                <a:spcPts val="0"/>
              </a:spcAft>
              <a:buClr>
                <a:schemeClr val="dk2"/>
              </a:buClr>
              <a:buSzPts val="1900"/>
              <a:buFont typeface="Poppins"/>
              <a:buChar char="●"/>
            </a:pPr>
            <a:r>
              <a:rPr b="1" lang="en" sz="1900">
                <a:solidFill>
                  <a:schemeClr val="dk2"/>
                </a:solidFill>
                <a:latin typeface="Poppins"/>
                <a:ea typeface="Poppins"/>
                <a:cs typeface="Poppins"/>
                <a:sym typeface="Poppins"/>
              </a:rPr>
              <a:t>Prioritize customer experience over efficiency</a:t>
            </a:r>
            <a:endParaRPr b="1" sz="1900">
              <a:solidFill>
                <a:schemeClr val="dk2"/>
              </a:solidFill>
              <a:latin typeface="Poppins"/>
              <a:ea typeface="Poppins"/>
              <a:cs typeface="Poppins"/>
              <a:sym typeface="Poppins"/>
            </a:endParaRPr>
          </a:p>
          <a:p>
            <a:pPr indent="0" lvl="0" marL="457200" rtl="0" algn="l">
              <a:lnSpc>
                <a:spcPct val="115000"/>
              </a:lnSpc>
              <a:spcBef>
                <a:spcPts val="0"/>
              </a:spcBef>
              <a:spcAft>
                <a:spcPts val="0"/>
              </a:spcAft>
              <a:buNone/>
            </a:pPr>
            <a:r>
              <a:t/>
            </a:r>
            <a:endParaRPr sz="1900">
              <a:solidFill>
                <a:schemeClr val="dk2"/>
              </a:solidFill>
              <a:latin typeface="Poppins"/>
              <a:ea typeface="Poppins"/>
              <a:cs typeface="Poppins"/>
              <a:sym typeface="Poppins"/>
            </a:endParaRPr>
          </a:p>
          <a:p>
            <a:pPr indent="-349250" lvl="0" marL="457200" rtl="0" algn="l">
              <a:lnSpc>
                <a:spcPct val="115000"/>
              </a:lnSpc>
              <a:spcBef>
                <a:spcPts val="0"/>
              </a:spcBef>
              <a:spcAft>
                <a:spcPts val="0"/>
              </a:spcAft>
              <a:buClr>
                <a:schemeClr val="dk2"/>
              </a:buClr>
              <a:buSzPts val="1900"/>
              <a:buFont typeface="Poppins"/>
              <a:buChar char="●"/>
            </a:pPr>
            <a:r>
              <a:rPr b="1" lang="en" sz="1900">
                <a:solidFill>
                  <a:schemeClr val="dk2"/>
                </a:solidFill>
                <a:latin typeface="Poppins"/>
                <a:ea typeface="Poppins"/>
                <a:cs typeface="Poppins"/>
                <a:sym typeface="Poppins"/>
              </a:rPr>
              <a:t>Be transparent</a:t>
            </a:r>
            <a:r>
              <a:rPr lang="en" sz="1900">
                <a:solidFill>
                  <a:schemeClr val="dk2"/>
                </a:solidFill>
                <a:latin typeface="Poppins"/>
                <a:ea typeface="Poppins"/>
                <a:cs typeface="Poppins"/>
                <a:sym typeface="Poppins"/>
              </a:rPr>
              <a:t> and manage brand risk</a:t>
            </a:r>
            <a:endParaRPr sz="1900">
              <a:solidFill>
                <a:schemeClr val="dk2"/>
              </a:solidFill>
              <a:latin typeface="Poppins"/>
              <a:ea typeface="Poppins"/>
              <a:cs typeface="Poppins"/>
              <a:sym typeface="Poppins"/>
            </a:endParaRPr>
          </a:p>
          <a:p>
            <a:pPr indent="0" lvl="0" marL="0" rtl="0" algn="l">
              <a:lnSpc>
                <a:spcPct val="115000"/>
              </a:lnSpc>
              <a:spcBef>
                <a:spcPts val="0"/>
              </a:spcBef>
              <a:spcAft>
                <a:spcPts val="0"/>
              </a:spcAft>
              <a:buNone/>
            </a:pPr>
            <a:r>
              <a:t/>
            </a:r>
            <a:endParaRPr b="1" sz="1900">
              <a:solidFill>
                <a:schemeClr val="dk2"/>
              </a:solidFill>
              <a:latin typeface="Poppins"/>
              <a:ea typeface="Poppins"/>
              <a:cs typeface="Poppins"/>
              <a:sym typeface="Poppins"/>
            </a:endParaRPr>
          </a:p>
          <a:p>
            <a:pPr indent="0" lvl="0" marL="0" rtl="0" algn="l">
              <a:lnSpc>
                <a:spcPct val="115000"/>
              </a:lnSpc>
              <a:spcBef>
                <a:spcPts val="0"/>
              </a:spcBef>
              <a:spcAft>
                <a:spcPts val="0"/>
              </a:spcAft>
              <a:buNone/>
            </a:pPr>
            <a:r>
              <a:rPr b="1" lang="en" sz="2000">
                <a:solidFill>
                  <a:srgbClr val="CC0000"/>
                </a:solidFill>
                <a:latin typeface="Poppins"/>
                <a:ea typeface="Poppins"/>
                <a:cs typeface="Poppins"/>
                <a:sym typeface="Poppins"/>
              </a:rPr>
              <a:t>Balance short-term efficiency with long-term relationships</a:t>
            </a:r>
            <a:endParaRPr b="1" sz="2000">
              <a:solidFill>
                <a:srgbClr val="CC0000"/>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 name="Shape 106"/>
        <p:cNvGrpSpPr/>
        <p:nvPr/>
      </p:nvGrpSpPr>
      <p:grpSpPr>
        <a:xfrm>
          <a:off x="0" y="0"/>
          <a:ext cx="0" cy="0"/>
          <a:chOff x="0" y="0"/>
          <a:chExt cx="0" cy="0"/>
        </a:xfrm>
      </p:grpSpPr>
      <p:sp>
        <p:nvSpPr>
          <p:cNvPr id="107" name="Google Shape;107;p19"/>
          <p:cNvSpPr txBox="1"/>
          <p:nvPr/>
        </p:nvSpPr>
        <p:spPr>
          <a:xfrm>
            <a:off x="132275" y="1058275"/>
            <a:ext cx="9144000" cy="1239600"/>
          </a:xfrm>
          <a:prstGeom prst="rect">
            <a:avLst/>
          </a:prstGeom>
          <a:noFill/>
          <a:ln>
            <a:noFill/>
          </a:ln>
        </p:spPr>
        <p:txBody>
          <a:bodyPr anchorCtr="0" anchor="t" bIns="91425" lIns="91425" spcFirstLastPara="1" rIns="91425" wrap="square" tIns="91425">
            <a:noAutofit/>
          </a:bodyPr>
          <a:lstStyle/>
          <a:p>
            <a:pPr indent="-203200" lvl="0" marL="171450" rtl="0" algn="l">
              <a:lnSpc>
                <a:spcPct val="150000"/>
              </a:lnSpc>
              <a:spcBef>
                <a:spcPts val="0"/>
              </a:spcBef>
              <a:spcAft>
                <a:spcPts val="0"/>
              </a:spcAft>
              <a:buSzPts val="1400"/>
              <a:buChar char="●"/>
            </a:pPr>
            <a:r>
              <a:rPr b="1" lang="en"/>
              <a:t>HubSpot’s Flywheel places customers as the </a:t>
            </a:r>
            <a:r>
              <a:rPr b="1" lang="en">
                <a:solidFill>
                  <a:srgbClr val="FF7A59"/>
                </a:solidFill>
              </a:rPr>
              <a:t>driving force</a:t>
            </a:r>
            <a:r>
              <a:rPr b="1" lang="en"/>
              <a:t> that fuels growth and acts as the backbone.</a:t>
            </a:r>
            <a:endParaRPr b="1"/>
          </a:p>
          <a:p>
            <a:pPr indent="-203200" lvl="0" marL="171450" rtl="0" algn="l">
              <a:lnSpc>
                <a:spcPct val="150000"/>
              </a:lnSpc>
              <a:spcBef>
                <a:spcPts val="0"/>
              </a:spcBef>
              <a:spcAft>
                <a:spcPts val="0"/>
              </a:spcAft>
              <a:buSzPts val="1400"/>
              <a:buChar char="●"/>
            </a:pPr>
            <a:r>
              <a:rPr b="1" lang="en"/>
              <a:t>The industry as a whole has since begun switching from funnel to flywheel.</a:t>
            </a:r>
            <a:endParaRPr b="1"/>
          </a:p>
        </p:txBody>
      </p:sp>
      <p:sp>
        <p:nvSpPr>
          <p:cNvPr id="108" name="Google Shape;108;p19"/>
          <p:cNvSpPr txBox="1"/>
          <p:nvPr/>
        </p:nvSpPr>
        <p:spPr>
          <a:xfrm>
            <a:off x="306450" y="431125"/>
            <a:ext cx="85311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3200">
                <a:solidFill>
                  <a:srgbClr val="2E475D"/>
                </a:solidFill>
                <a:latin typeface="Poppins"/>
                <a:ea typeface="Poppins"/>
                <a:cs typeface="Poppins"/>
                <a:sym typeface="Poppins"/>
              </a:rPr>
              <a:t>HubSpot’s pioneer of the Flywheel Model: </a:t>
            </a:r>
            <a:endParaRPr sz="1000"/>
          </a:p>
        </p:txBody>
      </p:sp>
      <p:sp>
        <p:nvSpPr>
          <p:cNvPr id="109" name="Google Shape;109;p19"/>
          <p:cNvSpPr/>
          <p:nvPr/>
        </p:nvSpPr>
        <p:spPr>
          <a:xfrm>
            <a:off x="0" y="0"/>
            <a:ext cx="9144000" cy="85800"/>
          </a:xfrm>
          <a:prstGeom prst="rect">
            <a:avLst/>
          </a:prstGeom>
          <a:solidFill>
            <a:srgbClr val="FF7A5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pic>
        <p:nvPicPr>
          <p:cNvPr id="110" name="Google Shape;110;p19"/>
          <p:cNvPicPr preferRelativeResize="0"/>
          <p:nvPr/>
        </p:nvPicPr>
        <p:blipFill>
          <a:blip r:embed="rId3">
            <a:alphaModFix/>
          </a:blip>
          <a:stretch>
            <a:fillRect/>
          </a:stretch>
        </p:blipFill>
        <p:spPr>
          <a:xfrm>
            <a:off x="4380125" y="1909301"/>
            <a:ext cx="4691201" cy="3113874"/>
          </a:xfrm>
          <a:prstGeom prst="rect">
            <a:avLst/>
          </a:prstGeom>
          <a:noFill/>
          <a:ln>
            <a:noFill/>
          </a:ln>
        </p:spPr>
      </p:pic>
      <p:sp>
        <p:nvSpPr>
          <p:cNvPr id="111" name="Google Shape;111;p19"/>
          <p:cNvSpPr txBox="1"/>
          <p:nvPr/>
        </p:nvSpPr>
        <p:spPr>
          <a:xfrm rot="-3266085">
            <a:off x="7392570" y="3433778"/>
            <a:ext cx="434813" cy="179255"/>
          </a:xfrm>
          <a:prstGeom prst="rect">
            <a:avLst/>
          </a:prstGeom>
          <a:solidFill>
            <a:srgbClr val="FAAA33"/>
          </a:solidFill>
          <a:ln>
            <a:noFill/>
          </a:ln>
        </p:spPr>
        <p:txBody>
          <a:bodyPr anchorCtr="0" anchor="t" bIns="57850" lIns="57850" spcFirstLastPara="1" rIns="57850" wrap="square" tIns="57850">
            <a:noAutofit/>
          </a:bodyPr>
          <a:lstStyle/>
          <a:p>
            <a:pPr indent="0" lvl="0" marL="0" rtl="0" algn="l">
              <a:spcBef>
                <a:spcPts val="0"/>
              </a:spcBef>
              <a:spcAft>
                <a:spcPts val="0"/>
              </a:spcAft>
              <a:buNone/>
            </a:pPr>
            <a:r>
              <a:rPr b="1" lang="en" sz="759">
                <a:solidFill>
                  <a:schemeClr val="lt1"/>
                </a:solidFill>
              </a:rPr>
              <a:t>Attract</a:t>
            </a:r>
            <a:endParaRPr b="1" sz="759">
              <a:solidFill>
                <a:schemeClr val="lt1"/>
              </a:solidFill>
            </a:endParaRPr>
          </a:p>
        </p:txBody>
      </p:sp>
      <p:sp>
        <p:nvSpPr>
          <p:cNvPr id="112" name="Google Shape;112;p19"/>
          <p:cNvSpPr txBox="1"/>
          <p:nvPr/>
        </p:nvSpPr>
        <p:spPr>
          <a:xfrm rot="3525131">
            <a:off x="8247689" y="3465629"/>
            <a:ext cx="560396" cy="182749"/>
          </a:xfrm>
          <a:prstGeom prst="rect">
            <a:avLst/>
          </a:prstGeom>
          <a:solidFill>
            <a:srgbClr val="008C97"/>
          </a:solidFill>
          <a:ln>
            <a:noFill/>
          </a:ln>
        </p:spPr>
        <p:txBody>
          <a:bodyPr anchorCtr="0" anchor="t" bIns="57850" lIns="57850" spcFirstLastPara="1" rIns="57850" wrap="square" tIns="57850">
            <a:noAutofit/>
          </a:bodyPr>
          <a:lstStyle/>
          <a:p>
            <a:pPr indent="0" lvl="0" marL="0" rtl="0" algn="l">
              <a:spcBef>
                <a:spcPts val="0"/>
              </a:spcBef>
              <a:spcAft>
                <a:spcPts val="0"/>
              </a:spcAft>
              <a:buNone/>
            </a:pPr>
            <a:r>
              <a:rPr b="1" lang="en" sz="759">
                <a:solidFill>
                  <a:schemeClr val="lt1"/>
                </a:solidFill>
              </a:rPr>
              <a:t>Engage</a:t>
            </a:r>
            <a:endParaRPr b="1" sz="759">
              <a:solidFill>
                <a:schemeClr val="lt1"/>
              </a:solidFill>
            </a:endParaRPr>
          </a:p>
        </p:txBody>
      </p:sp>
      <p:sp>
        <p:nvSpPr>
          <p:cNvPr id="113" name="Google Shape;113;p19"/>
          <p:cNvSpPr txBox="1"/>
          <p:nvPr/>
        </p:nvSpPr>
        <p:spPr>
          <a:xfrm rot="-8670">
            <a:off x="7817247" y="4244976"/>
            <a:ext cx="475802" cy="179100"/>
          </a:xfrm>
          <a:prstGeom prst="rect">
            <a:avLst/>
          </a:prstGeom>
          <a:solidFill>
            <a:srgbClr val="F58D49"/>
          </a:solidFill>
          <a:ln>
            <a:noFill/>
          </a:ln>
        </p:spPr>
        <p:txBody>
          <a:bodyPr anchorCtr="0" anchor="t" bIns="57850" lIns="57850" spcFirstLastPara="1" rIns="57850" wrap="square" tIns="57850">
            <a:noAutofit/>
          </a:bodyPr>
          <a:lstStyle/>
          <a:p>
            <a:pPr indent="0" lvl="0" marL="0" rtl="0" algn="l">
              <a:spcBef>
                <a:spcPts val="0"/>
              </a:spcBef>
              <a:spcAft>
                <a:spcPts val="0"/>
              </a:spcAft>
              <a:buNone/>
            </a:pPr>
            <a:r>
              <a:rPr b="1" lang="en" sz="759">
                <a:solidFill>
                  <a:schemeClr val="lt1"/>
                </a:solidFill>
              </a:rPr>
              <a:t>Delight</a:t>
            </a:r>
            <a:endParaRPr b="1" sz="759">
              <a:solidFill>
                <a:schemeClr val="lt1"/>
              </a:solidFill>
            </a:endParaRPr>
          </a:p>
        </p:txBody>
      </p:sp>
      <p:sp>
        <p:nvSpPr>
          <p:cNvPr id="114" name="Google Shape;114;p19"/>
          <p:cNvSpPr txBox="1"/>
          <p:nvPr/>
        </p:nvSpPr>
        <p:spPr>
          <a:xfrm>
            <a:off x="331675" y="2432420"/>
            <a:ext cx="3806400" cy="20373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600"/>
              <a:t>AI serves as the "rotational energy" for the flywheel, leveraging </a:t>
            </a:r>
            <a:r>
              <a:rPr b="1" lang="en" sz="1600">
                <a:solidFill>
                  <a:srgbClr val="FF7A59"/>
                </a:solidFill>
              </a:rPr>
              <a:t>data-driven network effects</a:t>
            </a:r>
            <a:r>
              <a:rPr b="1" lang="en" sz="1600"/>
              <a:t> to turn every captured interaction into intelligence.</a:t>
            </a:r>
            <a:endParaRPr b="1" sz="1600"/>
          </a:p>
        </p:txBody>
      </p:sp>
      <p:pic>
        <p:nvPicPr>
          <p:cNvPr id="115" name="Google Shape;115;p19"/>
          <p:cNvPicPr preferRelativeResize="0"/>
          <p:nvPr/>
        </p:nvPicPr>
        <p:blipFill>
          <a:blip r:embed="rId4">
            <a:alphaModFix/>
          </a:blip>
          <a:stretch>
            <a:fillRect/>
          </a:stretch>
        </p:blipFill>
        <p:spPr>
          <a:xfrm>
            <a:off x="6795609" y="2490263"/>
            <a:ext cx="2195526" cy="21955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 name="Shape 119"/>
        <p:cNvGrpSpPr/>
        <p:nvPr/>
      </p:nvGrpSpPr>
      <p:grpSpPr>
        <a:xfrm>
          <a:off x="0" y="0"/>
          <a:ext cx="0" cy="0"/>
          <a:chOff x="0" y="0"/>
          <a:chExt cx="0" cy="0"/>
        </a:xfrm>
      </p:grpSpPr>
      <p:sp>
        <p:nvSpPr>
          <p:cNvPr id="120" name="Google Shape;120;p20"/>
          <p:cNvSpPr txBox="1"/>
          <p:nvPr/>
        </p:nvSpPr>
        <p:spPr>
          <a:xfrm>
            <a:off x="58575" y="1042700"/>
            <a:ext cx="9144000" cy="1239600"/>
          </a:xfrm>
          <a:prstGeom prst="rect">
            <a:avLst/>
          </a:prstGeom>
          <a:noFill/>
          <a:ln>
            <a:noFill/>
          </a:ln>
        </p:spPr>
        <p:txBody>
          <a:bodyPr anchorCtr="0" anchor="t" bIns="91425" lIns="91425" spcFirstLastPara="1" rIns="91425" wrap="square" tIns="91425">
            <a:noAutofit/>
          </a:bodyPr>
          <a:lstStyle/>
          <a:p>
            <a:pPr indent="-206375" lvl="0" marL="171450" rtl="0" algn="l">
              <a:lnSpc>
                <a:spcPct val="150000"/>
              </a:lnSpc>
              <a:spcBef>
                <a:spcPts val="0"/>
              </a:spcBef>
              <a:spcAft>
                <a:spcPts val="0"/>
              </a:spcAft>
              <a:buSzPts val="1450"/>
              <a:buChar char="●"/>
            </a:pPr>
            <a:r>
              <a:rPr b="1" lang="en" sz="1450"/>
              <a:t>HubSpot identified early on; the baseline dependency of data available in traditional LLM’s does not achieve a competitive advantage. Their creation of the “data moat” attempts to overcome this.</a:t>
            </a:r>
            <a:endParaRPr b="1" sz="1450"/>
          </a:p>
          <a:p>
            <a:pPr indent="-206375" lvl="0" marL="171450" rtl="0" algn="l">
              <a:lnSpc>
                <a:spcPct val="150000"/>
              </a:lnSpc>
              <a:spcBef>
                <a:spcPts val="0"/>
              </a:spcBef>
              <a:spcAft>
                <a:spcPts val="0"/>
              </a:spcAft>
              <a:buSzPts val="1450"/>
              <a:buChar char="●"/>
            </a:pPr>
            <a:r>
              <a:rPr b="1" lang="en" sz="1450"/>
              <a:t>HubSpot’s "Conversations" tool collects customer data across Facebook, email, and web chat into one inbox, creating a </a:t>
            </a:r>
            <a:r>
              <a:rPr b="1" lang="en" sz="1450">
                <a:solidFill>
                  <a:srgbClr val="FF7A59"/>
                </a:solidFill>
              </a:rPr>
              <a:t>proprietary and sustainable feedback loop</a:t>
            </a:r>
            <a:r>
              <a:rPr b="1" lang="en" sz="1450"/>
              <a:t> that fuels its AI.</a:t>
            </a:r>
            <a:endParaRPr b="1" sz="1450"/>
          </a:p>
        </p:txBody>
      </p:sp>
      <p:sp>
        <p:nvSpPr>
          <p:cNvPr id="121" name="Google Shape;121;p20"/>
          <p:cNvSpPr txBox="1"/>
          <p:nvPr/>
        </p:nvSpPr>
        <p:spPr>
          <a:xfrm>
            <a:off x="306450" y="431125"/>
            <a:ext cx="85311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3200">
                <a:solidFill>
                  <a:srgbClr val="2E475D"/>
                </a:solidFill>
                <a:latin typeface="Poppins"/>
                <a:ea typeface="Poppins"/>
                <a:cs typeface="Poppins"/>
                <a:sym typeface="Poppins"/>
              </a:rPr>
              <a:t>Industry shift to data-dependent moats:</a:t>
            </a:r>
            <a:endParaRPr sz="1000"/>
          </a:p>
        </p:txBody>
      </p:sp>
      <p:sp>
        <p:nvSpPr>
          <p:cNvPr id="122" name="Google Shape;122;p20"/>
          <p:cNvSpPr/>
          <p:nvPr/>
        </p:nvSpPr>
        <p:spPr>
          <a:xfrm>
            <a:off x="0" y="0"/>
            <a:ext cx="9144000" cy="85800"/>
          </a:xfrm>
          <a:prstGeom prst="rect">
            <a:avLst/>
          </a:prstGeom>
          <a:solidFill>
            <a:srgbClr val="FF7A5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pic>
        <p:nvPicPr>
          <p:cNvPr id="123" name="Google Shape;123;p20"/>
          <p:cNvPicPr preferRelativeResize="0"/>
          <p:nvPr/>
        </p:nvPicPr>
        <p:blipFill rotWithShape="1">
          <a:blip r:embed="rId3">
            <a:alphaModFix/>
          </a:blip>
          <a:srcRect b="0" l="4030" r="3957" t="32442"/>
          <a:stretch/>
        </p:blipFill>
        <p:spPr>
          <a:xfrm>
            <a:off x="448625" y="3239188"/>
            <a:ext cx="3585175" cy="1716524"/>
          </a:xfrm>
          <a:prstGeom prst="rect">
            <a:avLst/>
          </a:prstGeom>
          <a:noFill/>
          <a:ln>
            <a:noFill/>
          </a:ln>
        </p:spPr>
      </p:pic>
      <p:pic>
        <p:nvPicPr>
          <p:cNvPr id="124" name="Google Shape;124;p20"/>
          <p:cNvPicPr preferRelativeResize="0"/>
          <p:nvPr/>
        </p:nvPicPr>
        <p:blipFill rotWithShape="1">
          <a:blip r:embed="rId4">
            <a:alphaModFix/>
          </a:blip>
          <a:srcRect b="0" l="0" r="0" t="25479"/>
          <a:stretch/>
        </p:blipFill>
        <p:spPr>
          <a:xfrm>
            <a:off x="6142912" y="3208025"/>
            <a:ext cx="2464825" cy="1778849"/>
          </a:xfrm>
          <a:prstGeom prst="rect">
            <a:avLst/>
          </a:prstGeom>
          <a:noFill/>
          <a:ln>
            <a:noFill/>
          </a:ln>
        </p:spPr>
      </p:pic>
      <p:sp>
        <p:nvSpPr>
          <p:cNvPr id="125" name="Google Shape;125;p20"/>
          <p:cNvSpPr txBox="1"/>
          <p:nvPr/>
        </p:nvSpPr>
        <p:spPr>
          <a:xfrm>
            <a:off x="6142900" y="2788825"/>
            <a:ext cx="2464800" cy="419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rPr>
              <a:t>Un-commoditized data:</a:t>
            </a:r>
            <a:endParaRPr sz="1200">
              <a:solidFill>
                <a:schemeClr val="dk1"/>
              </a:solidFill>
            </a:endParaRPr>
          </a:p>
        </p:txBody>
      </p:sp>
      <p:sp>
        <p:nvSpPr>
          <p:cNvPr id="126" name="Google Shape;126;p20"/>
          <p:cNvSpPr txBox="1"/>
          <p:nvPr/>
        </p:nvSpPr>
        <p:spPr>
          <a:xfrm>
            <a:off x="448625" y="2855050"/>
            <a:ext cx="3585300" cy="384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dk1"/>
                </a:solidFill>
              </a:rPr>
              <a:t>Commoditized data:</a:t>
            </a:r>
            <a:endParaRPr sz="13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Font typeface="Arial"/>
              <a:buNone/>
            </a:pPr>
            <a:r>
              <a:rPr b="1" lang="en" sz="3600">
                <a:solidFill>
                  <a:srgbClr val="2E475D"/>
                </a:solidFill>
                <a:latin typeface="Poppins"/>
                <a:ea typeface="Poppins"/>
                <a:cs typeface="Poppins"/>
                <a:sym typeface="Poppins"/>
              </a:rPr>
              <a:t>Current-Day Implications: Why HubSpot Is Winning in the AI Era</a:t>
            </a:r>
            <a:endParaRPr/>
          </a:p>
        </p:txBody>
      </p:sp>
      <p:sp>
        <p:nvSpPr>
          <p:cNvPr id="132" name="Google Shape;132;p21"/>
          <p:cNvSpPr txBox="1"/>
          <p:nvPr>
            <p:ph idx="1" type="body"/>
          </p:nvPr>
        </p:nvSpPr>
        <p:spPr>
          <a:xfrm>
            <a:off x="519525" y="1634275"/>
            <a:ext cx="3999900" cy="2934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2100">
                <a:solidFill>
                  <a:srgbClr val="FF7A59"/>
                </a:solidFill>
                <a:latin typeface="Poppins"/>
                <a:ea typeface="Poppins"/>
                <a:cs typeface="Poppins"/>
                <a:sym typeface="Poppins"/>
              </a:rPr>
              <a:t>Old CRM advantage</a:t>
            </a:r>
            <a:endParaRPr b="1" sz="2100">
              <a:solidFill>
                <a:srgbClr val="FF7A59"/>
              </a:solidFill>
              <a:latin typeface="Poppins"/>
              <a:ea typeface="Poppins"/>
              <a:cs typeface="Poppins"/>
              <a:sym typeface="Poppins"/>
            </a:endParaRPr>
          </a:p>
          <a:p>
            <a:pPr indent="0" lvl="0" marL="0" rtl="0" algn="l">
              <a:spcBef>
                <a:spcPts val="0"/>
              </a:spcBef>
              <a:spcAft>
                <a:spcPts val="0"/>
              </a:spcAft>
              <a:buNone/>
            </a:pPr>
            <a:r>
              <a:t/>
            </a:r>
            <a:endParaRPr sz="2100">
              <a:latin typeface="Poppins"/>
              <a:ea typeface="Poppins"/>
              <a:cs typeface="Poppins"/>
              <a:sym typeface="Poppins"/>
            </a:endParaRPr>
          </a:p>
          <a:p>
            <a:pPr indent="-336550" lvl="0" marL="457200" rtl="0" algn="l">
              <a:spcBef>
                <a:spcPts val="0"/>
              </a:spcBef>
              <a:spcAft>
                <a:spcPts val="0"/>
              </a:spcAft>
              <a:buClr>
                <a:schemeClr val="dk1"/>
              </a:buClr>
              <a:buSzPts val="1700"/>
              <a:buFont typeface="Poppins"/>
              <a:buChar char="●"/>
            </a:pPr>
            <a:r>
              <a:rPr lang="en" sz="1700">
                <a:latin typeface="Poppins"/>
                <a:ea typeface="Poppins"/>
                <a:cs typeface="Poppins"/>
                <a:sym typeface="Poppins"/>
              </a:rPr>
              <a:t>Scale</a:t>
            </a:r>
            <a:endParaRPr b="1" sz="1700">
              <a:latin typeface="Poppins"/>
              <a:ea typeface="Poppins"/>
              <a:cs typeface="Poppins"/>
              <a:sym typeface="Poppins"/>
            </a:endParaRPr>
          </a:p>
          <a:p>
            <a:pPr indent="0" lvl="0" marL="457200" rtl="0" algn="l">
              <a:spcBef>
                <a:spcPts val="0"/>
              </a:spcBef>
              <a:spcAft>
                <a:spcPts val="0"/>
              </a:spcAft>
              <a:buClr>
                <a:schemeClr val="dk1"/>
              </a:buClr>
              <a:buSzPts val="1100"/>
              <a:buFont typeface="Arial"/>
              <a:buNone/>
            </a:pPr>
            <a:r>
              <a:t/>
            </a:r>
            <a:endParaRPr sz="1700">
              <a:latin typeface="Poppins"/>
              <a:ea typeface="Poppins"/>
              <a:cs typeface="Poppins"/>
              <a:sym typeface="Poppins"/>
            </a:endParaRPr>
          </a:p>
          <a:p>
            <a:pPr indent="-336550" lvl="0" marL="457200" rtl="0" algn="l">
              <a:spcBef>
                <a:spcPts val="0"/>
              </a:spcBef>
              <a:spcAft>
                <a:spcPts val="0"/>
              </a:spcAft>
              <a:buClr>
                <a:schemeClr val="dk2"/>
              </a:buClr>
              <a:buSzPts val="1700"/>
              <a:buFont typeface="Poppins"/>
              <a:buChar char="●"/>
            </a:pPr>
            <a:r>
              <a:rPr lang="en" sz="1700">
                <a:latin typeface="Poppins"/>
                <a:ea typeface="Poppins"/>
                <a:cs typeface="Poppins"/>
                <a:sym typeface="Poppins"/>
              </a:rPr>
              <a:t>Installed base</a:t>
            </a:r>
            <a:endParaRPr sz="1700">
              <a:latin typeface="Poppins"/>
              <a:ea typeface="Poppins"/>
              <a:cs typeface="Poppins"/>
              <a:sym typeface="Poppins"/>
            </a:endParaRPr>
          </a:p>
          <a:p>
            <a:pPr indent="0" lvl="0" marL="457200" rtl="0" algn="l">
              <a:spcBef>
                <a:spcPts val="0"/>
              </a:spcBef>
              <a:spcAft>
                <a:spcPts val="0"/>
              </a:spcAft>
              <a:buClr>
                <a:schemeClr val="dk1"/>
              </a:buClr>
              <a:buSzPts val="1100"/>
              <a:buFont typeface="Arial"/>
              <a:buNone/>
            </a:pPr>
            <a:r>
              <a:t/>
            </a:r>
            <a:endParaRPr sz="1700">
              <a:latin typeface="Poppins"/>
              <a:ea typeface="Poppins"/>
              <a:cs typeface="Poppins"/>
              <a:sym typeface="Poppins"/>
            </a:endParaRPr>
          </a:p>
          <a:p>
            <a:pPr indent="-336550" lvl="0" marL="457200" rtl="0" algn="l">
              <a:spcBef>
                <a:spcPts val="0"/>
              </a:spcBef>
              <a:spcAft>
                <a:spcPts val="0"/>
              </a:spcAft>
              <a:buClr>
                <a:schemeClr val="dk2"/>
              </a:buClr>
              <a:buSzPts val="1700"/>
              <a:buFont typeface="Poppins"/>
              <a:buChar char="●"/>
            </a:pPr>
            <a:r>
              <a:rPr lang="en" sz="1700">
                <a:latin typeface="Poppins"/>
                <a:ea typeface="Poppins"/>
                <a:cs typeface="Poppins"/>
                <a:sym typeface="Poppins"/>
              </a:rPr>
              <a:t>Large sales teams</a:t>
            </a:r>
            <a:endParaRPr b="1" sz="1700">
              <a:latin typeface="Poppins"/>
              <a:ea typeface="Poppins"/>
              <a:cs typeface="Poppins"/>
              <a:sym typeface="Poppins"/>
            </a:endParaRPr>
          </a:p>
          <a:p>
            <a:pPr indent="0" lvl="0" marL="457200" rtl="0" algn="l">
              <a:spcBef>
                <a:spcPts val="0"/>
              </a:spcBef>
              <a:spcAft>
                <a:spcPts val="0"/>
              </a:spcAft>
              <a:buClr>
                <a:schemeClr val="dk1"/>
              </a:buClr>
              <a:buSzPts val="1100"/>
              <a:buFont typeface="Arial"/>
              <a:buNone/>
            </a:pPr>
            <a:r>
              <a:t/>
            </a:r>
            <a:endParaRPr sz="1700">
              <a:latin typeface="Poppins"/>
              <a:ea typeface="Poppins"/>
              <a:cs typeface="Poppins"/>
              <a:sym typeface="Poppins"/>
            </a:endParaRPr>
          </a:p>
          <a:p>
            <a:pPr indent="-336550" lvl="0" marL="457200" rtl="0" algn="l">
              <a:spcBef>
                <a:spcPts val="0"/>
              </a:spcBef>
              <a:spcAft>
                <a:spcPts val="0"/>
              </a:spcAft>
              <a:buClr>
                <a:schemeClr val="dk2"/>
              </a:buClr>
              <a:buSzPts val="1700"/>
              <a:buFont typeface="Poppins"/>
              <a:buChar char="●"/>
            </a:pPr>
            <a:r>
              <a:rPr lang="en" sz="1700">
                <a:latin typeface="Poppins"/>
                <a:ea typeface="Poppins"/>
                <a:cs typeface="Poppins"/>
                <a:sym typeface="Poppins"/>
              </a:rPr>
              <a:t>Product breadth</a:t>
            </a:r>
            <a:endParaRPr sz="1700"/>
          </a:p>
        </p:txBody>
      </p:sp>
      <p:sp>
        <p:nvSpPr>
          <p:cNvPr id="133" name="Google Shape;133;p21"/>
          <p:cNvSpPr txBox="1"/>
          <p:nvPr>
            <p:ph idx="2" type="body"/>
          </p:nvPr>
        </p:nvSpPr>
        <p:spPr>
          <a:xfrm>
            <a:off x="4670650" y="1634275"/>
            <a:ext cx="3945300" cy="29346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Clr>
                <a:schemeClr val="dk1"/>
              </a:buClr>
              <a:buSzPct val="44898"/>
              <a:buFont typeface="Arial"/>
              <a:buNone/>
            </a:pPr>
            <a:r>
              <a:rPr b="1" lang="en" sz="2450">
                <a:solidFill>
                  <a:srgbClr val="FF7A59"/>
                </a:solidFill>
                <a:latin typeface="Poppins"/>
                <a:ea typeface="Poppins"/>
                <a:cs typeface="Poppins"/>
                <a:sym typeface="Poppins"/>
              </a:rPr>
              <a:t>New AI-era</a:t>
            </a:r>
            <a:r>
              <a:rPr b="1" lang="en" sz="2450">
                <a:solidFill>
                  <a:srgbClr val="FF7A59"/>
                </a:solidFill>
                <a:latin typeface="Poppins"/>
                <a:ea typeface="Poppins"/>
                <a:cs typeface="Poppins"/>
                <a:sym typeface="Poppins"/>
              </a:rPr>
              <a:t> CRM advantage</a:t>
            </a:r>
            <a:endParaRPr b="1" sz="2450">
              <a:solidFill>
                <a:srgbClr val="FF7A59"/>
              </a:solidFill>
              <a:latin typeface="Poppins"/>
              <a:ea typeface="Poppins"/>
              <a:cs typeface="Poppins"/>
              <a:sym typeface="Poppins"/>
            </a:endParaRPr>
          </a:p>
          <a:p>
            <a:pPr indent="0" lvl="0" marL="0" rtl="0" algn="l">
              <a:spcBef>
                <a:spcPts val="0"/>
              </a:spcBef>
              <a:spcAft>
                <a:spcPts val="0"/>
              </a:spcAft>
              <a:buClr>
                <a:schemeClr val="dk1"/>
              </a:buClr>
              <a:buSzPct val="52381"/>
              <a:buFont typeface="Arial"/>
              <a:buNone/>
            </a:pPr>
            <a:r>
              <a:t/>
            </a:r>
            <a:endParaRPr sz="2100">
              <a:latin typeface="Poppins"/>
              <a:ea typeface="Poppins"/>
              <a:cs typeface="Poppins"/>
              <a:sym typeface="Poppins"/>
            </a:endParaRPr>
          </a:p>
          <a:p>
            <a:pPr indent="-336550" lvl="0" marL="457200" rtl="0" algn="l">
              <a:spcBef>
                <a:spcPts val="0"/>
              </a:spcBef>
              <a:spcAft>
                <a:spcPts val="0"/>
              </a:spcAft>
              <a:buClr>
                <a:schemeClr val="dk1"/>
              </a:buClr>
              <a:buSzPct val="100000"/>
              <a:buFont typeface="Poppins"/>
              <a:buChar char="●"/>
            </a:pPr>
            <a:r>
              <a:rPr lang="en" sz="2000">
                <a:latin typeface="Poppins"/>
                <a:ea typeface="Poppins"/>
                <a:cs typeface="Poppins"/>
                <a:sym typeface="Poppins"/>
              </a:rPr>
              <a:t>Unified customer data</a:t>
            </a:r>
            <a:endParaRPr b="1" sz="2000">
              <a:latin typeface="Poppins"/>
              <a:ea typeface="Poppins"/>
              <a:cs typeface="Poppins"/>
              <a:sym typeface="Poppins"/>
            </a:endParaRPr>
          </a:p>
          <a:p>
            <a:pPr indent="0" lvl="0" marL="457200" rtl="0" algn="l">
              <a:spcBef>
                <a:spcPts val="0"/>
              </a:spcBef>
              <a:spcAft>
                <a:spcPts val="0"/>
              </a:spcAft>
              <a:buClr>
                <a:schemeClr val="dk1"/>
              </a:buClr>
              <a:buSzPct val="55000"/>
              <a:buFont typeface="Arial"/>
              <a:buNone/>
            </a:pPr>
            <a:r>
              <a:t/>
            </a:r>
            <a:endParaRPr sz="2000">
              <a:latin typeface="Poppins"/>
              <a:ea typeface="Poppins"/>
              <a:cs typeface="Poppins"/>
              <a:sym typeface="Poppins"/>
            </a:endParaRPr>
          </a:p>
          <a:p>
            <a:pPr indent="-336550" lvl="0" marL="457200" rtl="0" algn="l">
              <a:spcBef>
                <a:spcPts val="0"/>
              </a:spcBef>
              <a:spcAft>
                <a:spcPts val="0"/>
              </a:spcAft>
              <a:buClr>
                <a:schemeClr val="dk2"/>
              </a:buClr>
              <a:buSzPct val="100000"/>
              <a:buFont typeface="Poppins"/>
              <a:buChar char="●"/>
            </a:pPr>
            <a:r>
              <a:rPr lang="en" sz="2000">
                <a:latin typeface="Poppins"/>
                <a:ea typeface="Poppins"/>
                <a:cs typeface="Poppins"/>
                <a:sym typeface="Poppins"/>
              </a:rPr>
              <a:t>Cross-functional integration</a:t>
            </a:r>
            <a:endParaRPr sz="2000">
              <a:latin typeface="Poppins"/>
              <a:ea typeface="Poppins"/>
              <a:cs typeface="Poppins"/>
              <a:sym typeface="Poppins"/>
            </a:endParaRPr>
          </a:p>
          <a:p>
            <a:pPr indent="0" lvl="0" marL="457200" rtl="0" algn="l">
              <a:spcBef>
                <a:spcPts val="0"/>
              </a:spcBef>
              <a:spcAft>
                <a:spcPts val="0"/>
              </a:spcAft>
              <a:buClr>
                <a:schemeClr val="dk1"/>
              </a:buClr>
              <a:buSzPct val="55000"/>
              <a:buFont typeface="Arial"/>
              <a:buNone/>
            </a:pPr>
            <a:r>
              <a:t/>
            </a:r>
            <a:endParaRPr sz="2000">
              <a:latin typeface="Poppins"/>
              <a:ea typeface="Poppins"/>
              <a:cs typeface="Poppins"/>
              <a:sym typeface="Poppins"/>
            </a:endParaRPr>
          </a:p>
          <a:p>
            <a:pPr indent="-336550" lvl="0" marL="457200" rtl="0" algn="l">
              <a:spcBef>
                <a:spcPts val="0"/>
              </a:spcBef>
              <a:spcAft>
                <a:spcPts val="0"/>
              </a:spcAft>
              <a:buClr>
                <a:schemeClr val="dk2"/>
              </a:buClr>
              <a:buSzPct val="100000"/>
              <a:buFont typeface="Poppins"/>
              <a:buChar char="●"/>
            </a:pPr>
            <a:r>
              <a:rPr lang="en" sz="2000">
                <a:latin typeface="Poppins"/>
                <a:ea typeface="Poppins"/>
                <a:cs typeface="Poppins"/>
                <a:sym typeface="Poppins"/>
              </a:rPr>
              <a:t>AI-assisted workflows</a:t>
            </a:r>
            <a:endParaRPr b="1" sz="2000">
              <a:latin typeface="Poppins"/>
              <a:ea typeface="Poppins"/>
              <a:cs typeface="Poppins"/>
              <a:sym typeface="Poppins"/>
            </a:endParaRPr>
          </a:p>
          <a:p>
            <a:pPr indent="0" lvl="0" marL="457200" rtl="0" algn="l">
              <a:spcBef>
                <a:spcPts val="0"/>
              </a:spcBef>
              <a:spcAft>
                <a:spcPts val="0"/>
              </a:spcAft>
              <a:buClr>
                <a:schemeClr val="dk1"/>
              </a:buClr>
              <a:buSzPct val="55000"/>
              <a:buFont typeface="Arial"/>
              <a:buNone/>
            </a:pPr>
            <a:r>
              <a:t/>
            </a:r>
            <a:endParaRPr sz="2000">
              <a:latin typeface="Poppins"/>
              <a:ea typeface="Poppins"/>
              <a:cs typeface="Poppins"/>
              <a:sym typeface="Poppins"/>
            </a:endParaRPr>
          </a:p>
          <a:p>
            <a:pPr indent="-336550" lvl="0" marL="457200" rtl="0" algn="l">
              <a:spcBef>
                <a:spcPts val="0"/>
              </a:spcBef>
              <a:spcAft>
                <a:spcPts val="0"/>
              </a:spcAft>
              <a:buClr>
                <a:schemeClr val="dk2"/>
              </a:buClr>
              <a:buSzPct val="100000"/>
              <a:buFont typeface="Poppins"/>
              <a:buChar char="●"/>
            </a:pPr>
            <a:r>
              <a:rPr lang="en" sz="2000">
                <a:latin typeface="Poppins"/>
                <a:ea typeface="Poppins"/>
                <a:cs typeface="Poppins"/>
                <a:sym typeface="Poppins"/>
              </a:rPr>
              <a:t>Lower-friction user experience</a:t>
            </a:r>
            <a:endParaRPr sz="2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 name="Shape 137"/>
        <p:cNvGrpSpPr/>
        <p:nvPr/>
      </p:nvGrpSpPr>
      <p:grpSpPr>
        <a:xfrm>
          <a:off x="0" y="0"/>
          <a:ext cx="0" cy="0"/>
          <a:chOff x="0" y="0"/>
          <a:chExt cx="0" cy="0"/>
        </a:xfrm>
      </p:grpSpPr>
      <p:sp>
        <p:nvSpPr>
          <p:cNvPr id="138" name="Google Shape;138;p22"/>
          <p:cNvSpPr txBox="1"/>
          <p:nvPr/>
        </p:nvSpPr>
        <p:spPr>
          <a:xfrm>
            <a:off x="306450" y="431125"/>
            <a:ext cx="85311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3200">
                <a:solidFill>
                  <a:srgbClr val="2E475D"/>
                </a:solidFill>
                <a:latin typeface="Poppins"/>
                <a:ea typeface="Poppins"/>
                <a:cs typeface="Poppins"/>
                <a:sym typeface="Poppins"/>
              </a:rPr>
              <a:t>HubSpot’s disruption of				  : </a:t>
            </a:r>
            <a:endParaRPr sz="1000"/>
          </a:p>
        </p:txBody>
      </p:sp>
      <p:sp>
        <p:nvSpPr>
          <p:cNvPr id="139" name="Google Shape;139;p22"/>
          <p:cNvSpPr/>
          <p:nvPr/>
        </p:nvSpPr>
        <p:spPr>
          <a:xfrm>
            <a:off x="0" y="0"/>
            <a:ext cx="9144000" cy="85800"/>
          </a:xfrm>
          <a:prstGeom prst="rect">
            <a:avLst/>
          </a:prstGeom>
          <a:solidFill>
            <a:srgbClr val="FF7A5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pic>
        <p:nvPicPr>
          <p:cNvPr id="140" name="Google Shape;140;p22"/>
          <p:cNvPicPr preferRelativeResize="0"/>
          <p:nvPr/>
        </p:nvPicPr>
        <p:blipFill rotWithShape="1">
          <a:blip r:embed="rId3">
            <a:alphaModFix/>
          </a:blip>
          <a:srcRect b="29644" l="19282" r="19387" t="26224"/>
          <a:stretch/>
        </p:blipFill>
        <p:spPr>
          <a:xfrm>
            <a:off x="5354075" y="148800"/>
            <a:ext cx="1469250" cy="1057250"/>
          </a:xfrm>
          <a:prstGeom prst="rect">
            <a:avLst/>
          </a:prstGeom>
          <a:noFill/>
          <a:ln>
            <a:noFill/>
          </a:ln>
        </p:spPr>
      </p:pic>
      <p:pic>
        <p:nvPicPr>
          <p:cNvPr id="141" name="Google Shape;141;p22"/>
          <p:cNvPicPr preferRelativeResize="0"/>
          <p:nvPr/>
        </p:nvPicPr>
        <p:blipFill>
          <a:blip r:embed="rId4">
            <a:alphaModFix/>
          </a:blip>
          <a:stretch>
            <a:fillRect/>
          </a:stretch>
        </p:blipFill>
        <p:spPr>
          <a:xfrm>
            <a:off x="184025" y="2855625"/>
            <a:ext cx="3971702" cy="2235501"/>
          </a:xfrm>
          <a:prstGeom prst="rect">
            <a:avLst/>
          </a:prstGeom>
          <a:noFill/>
          <a:ln cap="flat" cmpd="sng" w="9525">
            <a:solidFill>
              <a:schemeClr val="dk2"/>
            </a:solidFill>
            <a:prstDash val="solid"/>
            <a:round/>
            <a:headEnd len="sm" w="sm" type="none"/>
            <a:tailEnd len="sm" w="sm" type="none"/>
          </a:ln>
        </p:spPr>
      </p:pic>
      <p:sp>
        <p:nvSpPr>
          <p:cNvPr id="142" name="Google Shape;142;p22"/>
          <p:cNvSpPr txBox="1"/>
          <p:nvPr/>
        </p:nvSpPr>
        <p:spPr>
          <a:xfrm>
            <a:off x="-334492" y="1584125"/>
            <a:ext cx="9504600" cy="1239600"/>
          </a:xfrm>
          <a:prstGeom prst="rect">
            <a:avLst/>
          </a:prstGeom>
          <a:noFill/>
          <a:ln>
            <a:noFill/>
          </a:ln>
        </p:spPr>
        <p:txBody>
          <a:bodyPr anchorCtr="0" anchor="t" bIns="91425" lIns="91425" spcFirstLastPara="1" rIns="91425" wrap="square" tIns="91425">
            <a:noAutofit/>
          </a:bodyPr>
          <a:lstStyle/>
          <a:p>
            <a:pPr indent="0" lvl="0" marL="457200" rtl="0" algn="l">
              <a:lnSpc>
                <a:spcPct val="150000"/>
              </a:lnSpc>
              <a:spcBef>
                <a:spcPts val="0"/>
              </a:spcBef>
              <a:spcAft>
                <a:spcPts val="0"/>
              </a:spcAft>
              <a:buNone/>
            </a:pPr>
            <a:r>
              <a:rPr lang="en" sz="1600"/>
              <a:t>HubSpot has rapidly caught up in the AI-era due to Salesforce’s long </a:t>
            </a:r>
            <a:r>
              <a:rPr lang="en" sz="1600"/>
              <a:t>criticized</a:t>
            </a:r>
            <a:r>
              <a:rPr lang="en" sz="1600"/>
              <a:t> </a:t>
            </a:r>
            <a:r>
              <a:rPr lang="en" sz="1600">
                <a:solidFill>
                  <a:srgbClr val="FF7A59"/>
                </a:solidFill>
              </a:rPr>
              <a:t>data </a:t>
            </a:r>
            <a:r>
              <a:rPr lang="en" sz="1600">
                <a:solidFill>
                  <a:srgbClr val="FF7A59"/>
                </a:solidFill>
              </a:rPr>
              <a:t>fragmentation</a:t>
            </a:r>
            <a:r>
              <a:rPr lang="en" sz="1600">
                <a:solidFill>
                  <a:srgbClr val="FF7A59"/>
                </a:solidFill>
              </a:rPr>
              <a:t>.</a:t>
            </a:r>
            <a:endParaRPr sz="1600">
              <a:solidFill>
                <a:srgbClr val="FF7A59"/>
              </a:solidFill>
            </a:endParaRPr>
          </a:p>
        </p:txBody>
      </p:sp>
      <p:sp>
        <p:nvSpPr>
          <p:cNvPr id="143" name="Google Shape;143;p22"/>
          <p:cNvSpPr txBox="1"/>
          <p:nvPr/>
        </p:nvSpPr>
        <p:spPr>
          <a:xfrm>
            <a:off x="4322225" y="2655575"/>
            <a:ext cx="4769700" cy="2066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t>HubSpot acquired Motion AI to add new capability to its unified platform. </a:t>
            </a:r>
            <a:endParaRPr sz="1600"/>
          </a:p>
          <a:p>
            <a:pPr indent="0" lvl="0" marL="0" rtl="0" algn="l">
              <a:lnSpc>
                <a:spcPct val="115000"/>
              </a:lnSpc>
              <a:spcBef>
                <a:spcPts val="0"/>
              </a:spcBef>
              <a:spcAft>
                <a:spcPts val="0"/>
              </a:spcAft>
              <a:buNone/>
            </a:pPr>
            <a:r>
              <a:t/>
            </a:r>
            <a:endParaRPr sz="1600"/>
          </a:p>
          <a:p>
            <a:pPr indent="0" lvl="0" marL="0" rtl="0" algn="l">
              <a:lnSpc>
                <a:spcPct val="115000"/>
              </a:lnSpc>
              <a:spcBef>
                <a:spcPts val="0"/>
              </a:spcBef>
              <a:spcAft>
                <a:spcPts val="0"/>
              </a:spcAft>
              <a:buNone/>
            </a:pPr>
            <a:r>
              <a:rPr lang="en" sz="1600"/>
              <a:t>Whereas Salesforce's history of buying separate companies has created disconnected data silos that made their information less useful.</a:t>
            </a:r>
            <a:endParaRPr sz="1600"/>
          </a:p>
          <a:p>
            <a:pPr indent="0" lvl="0" marL="0" rtl="0" algn="l">
              <a:lnSpc>
                <a:spcPct val="115000"/>
              </a:lnSpc>
              <a:spcBef>
                <a:spcPts val="0"/>
              </a:spcBef>
              <a:spcAft>
                <a:spcPts val="0"/>
              </a:spcAft>
              <a:buNone/>
            </a:pPr>
            <a:r>
              <a:t/>
            </a:r>
            <a:endParaRPr sz="1600"/>
          </a:p>
          <a:p>
            <a:pPr indent="0" lvl="0" marL="0" rtl="0" algn="l">
              <a:lnSpc>
                <a:spcPct val="115000"/>
              </a:lnSpc>
              <a:spcBef>
                <a:spcPts val="0"/>
              </a:spcBef>
              <a:spcAft>
                <a:spcPts val="0"/>
              </a:spcAft>
              <a:buNone/>
            </a:pPr>
            <a:r>
              <a:rPr b="1" lang="en" sz="1600"/>
              <a:t>Commonly referred to as </a:t>
            </a:r>
            <a:r>
              <a:rPr b="1" lang="en" sz="1600">
                <a:solidFill>
                  <a:srgbClr val="FF7A59"/>
                </a:solidFill>
              </a:rPr>
              <a:t>“integration debt”</a:t>
            </a:r>
            <a:r>
              <a:rPr b="1" lang="en" sz="1600"/>
              <a:t>.</a:t>
            </a:r>
            <a:endParaRPr b="1" sz="1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Font typeface="Arial"/>
              <a:buNone/>
            </a:pPr>
            <a:r>
              <a:rPr b="1" lang="en" sz="3600">
                <a:solidFill>
                  <a:srgbClr val="2E475D"/>
                </a:solidFill>
                <a:latin typeface="Poppins"/>
                <a:ea typeface="Poppins"/>
                <a:cs typeface="Poppins"/>
                <a:sym typeface="Poppins"/>
              </a:rPr>
              <a:t>References</a:t>
            </a:r>
            <a:endParaRPr/>
          </a:p>
        </p:txBody>
      </p:sp>
      <p:sp>
        <p:nvSpPr>
          <p:cNvPr id="149" name="Google Shape;149;p23"/>
          <p:cNvSpPr txBox="1"/>
          <p:nvPr>
            <p:ph idx="1" type="body"/>
          </p:nvPr>
        </p:nvSpPr>
        <p:spPr>
          <a:xfrm>
            <a:off x="701850" y="1107125"/>
            <a:ext cx="8036100" cy="3710100"/>
          </a:xfrm>
          <a:prstGeom prst="rect">
            <a:avLst/>
          </a:prstGeom>
        </p:spPr>
        <p:txBody>
          <a:bodyPr anchorCtr="0" anchor="t" bIns="91425" lIns="91425" spcFirstLastPara="1" rIns="91425" wrap="square" tIns="91425">
            <a:noAutofit/>
          </a:bodyPr>
          <a:lstStyle/>
          <a:p>
            <a:pPr indent="-457200" lvl="0" marL="0" rtl="0" algn="l">
              <a:lnSpc>
                <a:spcPct val="200000"/>
              </a:lnSpc>
              <a:spcBef>
                <a:spcPts val="0"/>
              </a:spcBef>
              <a:spcAft>
                <a:spcPts val="0"/>
              </a:spcAft>
              <a:buClr>
                <a:schemeClr val="dk1"/>
              </a:buClr>
              <a:buSzPts val="688"/>
              <a:buFont typeface="Arial"/>
              <a:buNone/>
            </a:pPr>
            <a:r>
              <a:rPr i="1" lang="en" sz="850">
                <a:solidFill>
                  <a:schemeClr val="dk1"/>
                </a:solidFill>
              </a:rPr>
              <a:t>9 CRM trends for 2024</a:t>
            </a:r>
            <a:r>
              <a:rPr lang="en" sz="850">
                <a:solidFill>
                  <a:schemeClr val="dk1"/>
                </a:solidFill>
              </a:rPr>
              <a:t>. (n.d.). CIO. https://www.cio.com/article/1255983/customer-relationship-management-crm-trends.html</a:t>
            </a:r>
            <a:endParaRPr sz="850">
              <a:solidFill>
                <a:schemeClr val="dk1"/>
              </a:solidFill>
            </a:endParaRPr>
          </a:p>
          <a:p>
            <a:pPr indent="-457200" lvl="0" marL="0" rtl="0" algn="l">
              <a:lnSpc>
                <a:spcPct val="200000"/>
              </a:lnSpc>
              <a:spcBef>
                <a:spcPts val="0"/>
              </a:spcBef>
              <a:spcAft>
                <a:spcPts val="0"/>
              </a:spcAft>
              <a:buClr>
                <a:schemeClr val="dk1"/>
              </a:buClr>
              <a:buSzPts val="688"/>
              <a:buFont typeface="Arial"/>
              <a:buNone/>
            </a:pPr>
            <a:r>
              <a:rPr i="1" lang="en" sz="850">
                <a:solidFill>
                  <a:schemeClr val="dk1"/>
                </a:solidFill>
              </a:rPr>
              <a:t>Customer Relationship Management Market Size, Share | Growth, 2027</a:t>
            </a:r>
            <a:r>
              <a:rPr lang="en" sz="850">
                <a:solidFill>
                  <a:schemeClr val="dk1"/>
                </a:solidFill>
              </a:rPr>
              <a:t>. (n.d.). Www.fortunebusinessinsights.com. https://www.fortunebusinessinsights.com/customer-relationship-management-crm-market-103418</a:t>
            </a:r>
            <a:endParaRPr sz="850">
              <a:solidFill>
                <a:schemeClr val="dk1"/>
              </a:solidFill>
            </a:endParaRPr>
          </a:p>
          <a:p>
            <a:pPr indent="-457200" lvl="0" marL="0" rtl="0" algn="l">
              <a:lnSpc>
                <a:spcPct val="200000"/>
              </a:lnSpc>
              <a:spcBef>
                <a:spcPts val="0"/>
              </a:spcBef>
              <a:spcAft>
                <a:spcPts val="0"/>
              </a:spcAft>
              <a:buClr>
                <a:schemeClr val="dk1"/>
              </a:buClr>
              <a:buSzPts val="688"/>
              <a:buFont typeface="Arial"/>
              <a:buNone/>
            </a:pPr>
            <a:r>
              <a:rPr i="1" lang="en" sz="850">
                <a:solidFill>
                  <a:schemeClr val="dk1"/>
                </a:solidFill>
              </a:rPr>
              <a:t>HubSpot and Motion AI: Chatbot-Enabled CRM - Case - Faculty &amp; Research - Harvard Business School</a:t>
            </a:r>
            <a:r>
              <a:rPr lang="en" sz="850">
                <a:solidFill>
                  <a:schemeClr val="dk1"/>
                </a:solidFill>
              </a:rPr>
              <a:t>. (n.d.). Www.hbs.edu. https://www.hbs.edu/faculty/Pages/item.aspx?num=53650</a:t>
            </a:r>
            <a:endParaRPr sz="850">
              <a:solidFill>
                <a:schemeClr val="dk1"/>
              </a:solidFill>
            </a:endParaRPr>
          </a:p>
          <a:p>
            <a:pPr indent="-457200" lvl="0" marL="0" rtl="0" algn="l">
              <a:lnSpc>
                <a:spcPct val="200000"/>
              </a:lnSpc>
              <a:spcBef>
                <a:spcPts val="0"/>
              </a:spcBef>
              <a:spcAft>
                <a:spcPts val="0"/>
              </a:spcAft>
              <a:buClr>
                <a:schemeClr val="dk1"/>
              </a:buClr>
              <a:buSzPts val="688"/>
              <a:buFont typeface="Arial"/>
              <a:buNone/>
            </a:pPr>
            <a:r>
              <a:rPr lang="en" sz="850">
                <a:solidFill>
                  <a:schemeClr val="dk1"/>
                </a:solidFill>
              </a:rPr>
              <a:t>News, T. (2026, April). </a:t>
            </a:r>
            <a:r>
              <a:rPr i="1" lang="en" sz="850">
                <a:solidFill>
                  <a:schemeClr val="dk1"/>
                </a:solidFill>
              </a:rPr>
              <a:t>Market Overview &amp; Definition The Customer Relationship Management (CRM) market plays a vital role in helping organizations manage customer interactions, streamline processes, and improve profitability. A comprehensive CRM market overview highlights its growing importance in today’s data-driven busin</a:t>
            </a:r>
            <a:r>
              <a:rPr lang="en" sz="850">
                <a:solidFill>
                  <a:schemeClr val="dk1"/>
                </a:solidFill>
              </a:rPr>
              <a:t>. Linkedin.com. https://www.linkedin.com/pulse/customer-relationship-management-crm-3lkrc</a:t>
            </a:r>
            <a:endParaRPr sz="850">
              <a:solidFill>
                <a:schemeClr val="dk1"/>
              </a:solidFill>
            </a:endParaRPr>
          </a:p>
          <a:p>
            <a:pPr indent="-457200" lvl="0" marL="0" rtl="0" algn="l">
              <a:lnSpc>
                <a:spcPct val="200000"/>
              </a:lnSpc>
              <a:spcBef>
                <a:spcPts val="0"/>
              </a:spcBef>
              <a:spcAft>
                <a:spcPts val="0"/>
              </a:spcAft>
              <a:buClr>
                <a:schemeClr val="dk1"/>
              </a:buClr>
              <a:buSzPts val="688"/>
              <a:buFont typeface="Arial"/>
              <a:buNone/>
            </a:pPr>
            <a:r>
              <a:rPr lang="en" sz="850">
                <a:solidFill>
                  <a:schemeClr val="dk1"/>
                </a:solidFill>
              </a:rPr>
              <a:t>Technavio. (2024). </a:t>
            </a:r>
            <a:r>
              <a:rPr i="1" lang="en" sz="850">
                <a:solidFill>
                  <a:schemeClr val="dk1"/>
                </a:solidFill>
              </a:rPr>
              <a:t>Crm Market Analysis North America, Europe, APAC, South America, Middle East and Africa - US, Canada, UK, Germany, Japan - Size and Forecast 2024-2028</a:t>
            </a:r>
            <a:r>
              <a:rPr lang="en" sz="850">
                <a:solidFill>
                  <a:schemeClr val="dk1"/>
                </a:solidFill>
              </a:rPr>
              <a:t>. Technavio.com. </a:t>
            </a:r>
            <a:r>
              <a:rPr lang="en" sz="850" u="sng">
                <a:solidFill>
                  <a:schemeClr val="hlink"/>
                </a:solidFill>
                <a:hlinkClick r:id="rId3"/>
              </a:rPr>
              <a:t>https://www.technavio.com/report/crm-market-industry-analysis</a:t>
            </a:r>
            <a:endParaRPr sz="850">
              <a:solidFill>
                <a:schemeClr val="dk1"/>
              </a:solidFill>
            </a:endParaRPr>
          </a:p>
          <a:p>
            <a:pPr indent="-457200" lvl="0" marL="0" rtl="0" algn="l">
              <a:lnSpc>
                <a:spcPct val="200000"/>
              </a:lnSpc>
              <a:spcBef>
                <a:spcPts val="0"/>
              </a:spcBef>
              <a:spcAft>
                <a:spcPts val="0"/>
              </a:spcAft>
              <a:buClr>
                <a:schemeClr val="dk1"/>
              </a:buClr>
              <a:buSzPts val="688"/>
              <a:buFont typeface="Arial"/>
              <a:buNone/>
            </a:pPr>
            <a:r>
              <a:rPr lang="en" sz="850">
                <a:solidFill>
                  <a:schemeClr val="dk1"/>
                </a:solidFill>
              </a:rPr>
              <a:t>Frends iPaaS. (2025, November 5). </a:t>
            </a:r>
            <a:r>
              <a:rPr i="1" lang="en" sz="850">
                <a:solidFill>
                  <a:schemeClr val="dk1"/>
                </a:solidFill>
              </a:rPr>
              <a:t>Integration debt: The silent threat holding back digital transformation</a:t>
            </a:r>
            <a:r>
              <a:rPr lang="en" sz="850">
                <a:solidFill>
                  <a:schemeClr val="dk1"/>
                </a:solidFill>
              </a:rPr>
              <a:t>. Frends.com; Frends Technology. https://frends.com/insights/integration-debt-the-silent-threat-holding-back-digital-transformation</a:t>
            </a:r>
            <a:endParaRPr sz="850">
              <a:solidFill>
                <a:schemeClr val="dk1"/>
              </a:solidFill>
            </a:endParaRPr>
          </a:p>
          <a:p>
            <a:pPr indent="-457200" lvl="0" marL="0" rtl="0" algn="l">
              <a:lnSpc>
                <a:spcPct val="200000"/>
              </a:lnSpc>
              <a:spcBef>
                <a:spcPts val="0"/>
              </a:spcBef>
              <a:spcAft>
                <a:spcPts val="0"/>
              </a:spcAft>
              <a:buClr>
                <a:schemeClr val="dk1"/>
              </a:buClr>
              <a:buSzPts val="688"/>
              <a:buFont typeface="Arial"/>
              <a:buNone/>
            </a:pPr>
            <a:r>
              <a:rPr lang="en" sz="850">
                <a:solidFill>
                  <a:schemeClr val="dk1"/>
                </a:solidFill>
              </a:rPr>
              <a:t>Gillen, P. (2026, April 14). </a:t>
            </a:r>
            <a:r>
              <a:rPr i="1" lang="en" sz="850">
                <a:solidFill>
                  <a:schemeClr val="dk1"/>
                </a:solidFill>
              </a:rPr>
              <a:t>SiliconANGLE</a:t>
            </a:r>
            <a:r>
              <a:rPr lang="en" sz="850">
                <a:solidFill>
                  <a:schemeClr val="dk1"/>
                </a:solidFill>
              </a:rPr>
              <a:t>. SiliconANGLE. https://siliconangle.com/2026/04/14/hubspot-targets-ai-driven-buyer-behavior-shift-new-tools-agents/</a:t>
            </a:r>
            <a:endParaRPr sz="850">
              <a:solidFill>
                <a:schemeClr val="dk1"/>
              </a:solidFill>
            </a:endParaRPr>
          </a:p>
          <a:p>
            <a:pPr indent="-457200" lvl="0" marL="0" rtl="0" algn="l">
              <a:lnSpc>
                <a:spcPct val="200000"/>
              </a:lnSpc>
              <a:spcBef>
                <a:spcPts val="0"/>
              </a:spcBef>
              <a:spcAft>
                <a:spcPts val="0"/>
              </a:spcAft>
              <a:buClr>
                <a:schemeClr val="dk1"/>
              </a:buClr>
              <a:buSzPts val="688"/>
              <a:buFont typeface="Arial"/>
              <a:buNone/>
            </a:pPr>
            <a:r>
              <a:rPr lang="en" sz="850">
                <a:solidFill>
                  <a:schemeClr val="dk1"/>
                </a:solidFill>
              </a:rPr>
              <a:t>HubSpot. (2018). </a:t>
            </a:r>
            <a:r>
              <a:rPr i="1" lang="en" sz="850">
                <a:solidFill>
                  <a:schemeClr val="dk1"/>
                </a:solidFill>
              </a:rPr>
              <a:t>The Flywheel Model</a:t>
            </a:r>
            <a:r>
              <a:rPr lang="en" sz="850">
                <a:solidFill>
                  <a:schemeClr val="dk1"/>
                </a:solidFill>
              </a:rPr>
              <a:t>. Hubspot.com. https://www.hubspot.com/flywheel</a:t>
            </a:r>
            <a:endParaRPr sz="850">
              <a:solidFill>
                <a:schemeClr val="dk1"/>
              </a:solidFill>
            </a:endParaRPr>
          </a:p>
          <a:p>
            <a:pPr indent="-457200" lvl="0" marL="0" rtl="0" algn="l">
              <a:lnSpc>
                <a:spcPct val="200000"/>
              </a:lnSpc>
              <a:spcBef>
                <a:spcPts val="0"/>
              </a:spcBef>
              <a:spcAft>
                <a:spcPts val="0"/>
              </a:spcAft>
              <a:buClr>
                <a:schemeClr val="dk1"/>
              </a:buClr>
              <a:buSzPts val="688"/>
              <a:buFont typeface="Arial"/>
              <a:buNone/>
            </a:pPr>
            <a:r>
              <a:rPr i="1" lang="en" sz="850">
                <a:solidFill>
                  <a:schemeClr val="dk1"/>
                </a:solidFill>
              </a:rPr>
              <a:t>Salesforce Marketing Cloud Engagement vs HubSpot</a:t>
            </a:r>
            <a:r>
              <a:rPr lang="en" sz="850">
                <a:solidFill>
                  <a:schemeClr val="dk1"/>
                </a:solidFill>
              </a:rPr>
              <a:t>. (2024). Hubspot.com. https://www.hubspot.com/comparisons/salesforce-marketing-cloud-vs-hubspot-marketing-hub</a:t>
            </a:r>
            <a:endParaRPr sz="850">
              <a:solidFill>
                <a:schemeClr val="dk1"/>
              </a:solidFill>
            </a:endParaRPr>
          </a:p>
          <a:p>
            <a:pPr indent="0" lvl="0" marL="0" rtl="0" algn="l">
              <a:spcBef>
                <a:spcPts val="0"/>
              </a:spcBef>
              <a:spcAft>
                <a:spcPts val="1200"/>
              </a:spcAft>
              <a:buSzPts val="688"/>
              <a:buNone/>
            </a:pPr>
            <a:r>
              <a:t/>
            </a:r>
            <a:endParaRPr sz="85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